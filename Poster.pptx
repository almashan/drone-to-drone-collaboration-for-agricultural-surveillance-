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3"/>
  </p:handoutMasterIdLst>
  <p:sldIdLst>
    <p:sldId id="256" r:id="rId2"/>
  </p:sldIdLst>
  <p:sldSz cx="16202025" cy="25203150"/>
  <p:notesSz cx="6759575" cy="9867900"/>
  <p:defaultTextStyle>
    <a:defPPr>
      <a:defRPr lang="en-GB"/>
    </a:defPPr>
    <a:lvl1pPr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5pPr>
    <a:lvl6pPr marL="2286000" algn="l" defTabSz="914400" rtl="0" eaLnBrk="1" latinLnBrk="0" hangingPunct="1">
      <a:defRPr sz="7500" kern="1200">
        <a:solidFill>
          <a:schemeClr val="tx1"/>
        </a:solidFill>
        <a:latin typeface="Times New Roman" panose="02020603050405020304" pitchFamily="18" charset="0"/>
        <a:ea typeface="+mn-ea"/>
        <a:cs typeface="+mn-cs"/>
      </a:defRPr>
    </a:lvl6pPr>
    <a:lvl7pPr marL="2743200" algn="l" defTabSz="914400" rtl="0" eaLnBrk="1" latinLnBrk="0" hangingPunct="1">
      <a:defRPr sz="7500" kern="1200">
        <a:solidFill>
          <a:schemeClr val="tx1"/>
        </a:solidFill>
        <a:latin typeface="Times New Roman" panose="02020603050405020304" pitchFamily="18" charset="0"/>
        <a:ea typeface="+mn-ea"/>
        <a:cs typeface="+mn-cs"/>
      </a:defRPr>
    </a:lvl7pPr>
    <a:lvl8pPr marL="3200400" algn="l" defTabSz="914400" rtl="0" eaLnBrk="1" latinLnBrk="0" hangingPunct="1">
      <a:defRPr sz="7500" kern="1200">
        <a:solidFill>
          <a:schemeClr val="tx1"/>
        </a:solidFill>
        <a:latin typeface="Times New Roman" panose="02020603050405020304" pitchFamily="18" charset="0"/>
        <a:ea typeface="+mn-ea"/>
        <a:cs typeface="+mn-cs"/>
      </a:defRPr>
    </a:lvl8pPr>
    <a:lvl9pPr marL="3657600" algn="l" defTabSz="914400" rtl="0" eaLnBrk="1" latinLnBrk="0" hangingPunct="1">
      <a:defRPr sz="75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939" userDrawn="1">
          <p15:clr>
            <a:srgbClr val="A4A3A4"/>
          </p15:clr>
        </p15:guide>
        <p15:guide id="2" pos="51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66"/>
    <a:srgbClr val="F8F7E4"/>
    <a:srgbClr val="FF66CC"/>
    <a:srgbClr val="FFFFFF"/>
    <a:srgbClr val="FFFFCC"/>
    <a:srgbClr val="FFFF99"/>
    <a:srgbClr val="FAF8E2"/>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B27F05-6333-E7B8-F8EF-77383762112B}" v="691" dt="2025-12-23T22:09:16.4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54" autoAdjust="0"/>
    <p:restoredTop sz="99828" autoAdjust="0"/>
  </p:normalViewPr>
  <p:slideViewPr>
    <p:cSldViewPr>
      <p:cViewPr>
        <p:scale>
          <a:sx n="66" d="100"/>
          <a:sy n="66" d="100"/>
        </p:scale>
        <p:origin x="248" y="-7412"/>
      </p:cViewPr>
      <p:guideLst>
        <p:guide orient="horz" pos="7939"/>
        <p:guide pos="51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2"/>
    </p:cViewPr>
  </p:sorter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C96DB3D-732E-FC3B-70C8-10B83616AE55}"/>
              </a:ext>
            </a:extLst>
          </p:cNvPr>
          <p:cNvSpPr>
            <a:spLocks noGrp="1" noChangeArrowheads="1"/>
          </p:cNvSpPr>
          <p:nvPr>
            <p:ph type="hdr" sz="quarter"/>
          </p:nvPr>
        </p:nvSpPr>
        <p:spPr bwMode="auto">
          <a:xfrm>
            <a:off x="0" y="0"/>
            <a:ext cx="2928938"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defTabSz="906463">
              <a:defRPr sz="1200"/>
            </a:lvl1pPr>
          </a:lstStyle>
          <a:p>
            <a:pPr>
              <a:defRPr/>
            </a:pPr>
            <a:endParaRPr lang="zh-CN" altLang="en-GB"/>
          </a:p>
        </p:txBody>
      </p:sp>
      <p:sp>
        <p:nvSpPr>
          <p:cNvPr id="4099" name="Rectangle 3">
            <a:extLst>
              <a:ext uri="{FF2B5EF4-FFF2-40B4-BE49-F238E27FC236}">
                <a16:creationId xmlns:a16="http://schemas.microsoft.com/office/drawing/2014/main" id="{82458C3D-121E-5D90-C3FE-F5B59700DDC5}"/>
              </a:ext>
            </a:extLst>
          </p:cNvPr>
          <p:cNvSpPr>
            <a:spLocks noGrp="1" noChangeArrowheads="1"/>
          </p:cNvSpPr>
          <p:nvPr>
            <p:ph type="dt" sz="quarter" idx="1"/>
          </p:nvPr>
        </p:nvSpPr>
        <p:spPr bwMode="auto">
          <a:xfrm>
            <a:off x="3830638" y="0"/>
            <a:ext cx="2928937"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algn="r" defTabSz="906463">
              <a:defRPr sz="1200"/>
            </a:lvl1pPr>
          </a:lstStyle>
          <a:p>
            <a:pPr>
              <a:defRPr/>
            </a:pPr>
            <a:endParaRPr lang="en-GB" altLang="zh-CN"/>
          </a:p>
        </p:txBody>
      </p:sp>
      <p:sp>
        <p:nvSpPr>
          <p:cNvPr id="4100" name="Rectangle 4">
            <a:extLst>
              <a:ext uri="{FF2B5EF4-FFF2-40B4-BE49-F238E27FC236}">
                <a16:creationId xmlns:a16="http://schemas.microsoft.com/office/drawing/2014/main" id="{596164C9-F6C0-3D76-B1D2-C64A1B6068CA}"/>
              </a:ext>
            </a:extLst>
          </p:cNvPr>
          <p:cNvSpPr>
            <a:spLocks noGrp="1" noChangeArrowheads="1"/>
          </p:cNvSpPr>
          <p:nvPr>
            <p:ph type="ftr" sz="quarter" idx="2"/>
          </p:nvPr>
        </p:nvSpPr>
        <p:spPr bwMode="auto">
          <a:xfrm>
            <a:off x="0" y="9375775"/>
            <a:ext cx="2928938"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defTabSz="906463">
              <a:defRPr sz="1200"/>
            </a:lvl1pPr>
          </a:lstStyle>
          <a:p>
            <a:pPr>
              <a:defRPr/>
            </a:pPr>
            <a:endParaRPr lang="en-GB" altLang="zh-CN"/>
          </a:p>
        </p:txBody>
      </p:sp>
      <p:sp>
        <p:nvSpPr>
          <p:cNvPr id="4101" name="Rectangle 5">
            <a:extLst>
              <a:ext uri="{FF2B5EF4-FFF2-40B4-BE49-F238E27FC236}">
                <a16:creationId xmlns:a16="http://schemas.microsoft.com/office/drawing/2014/main" id="{71874F2D-59EC-EE3F-8EE4-0628138A5B61}"/>
              </a:ext>
            </a:extLst>
          </p:cNvPr>
          <p:cNvSpPr>
            <a:spLocks noGrp="1" noChangeArrowheads="1"/>
          </p:cNvSpPr>
          <p:nvPr>
            <p:ph type="sldNum" sz="quarter" idx="3"/>
          </p:nvPr>
        </p:nvSpPr>
        <p:spPr bwMode="auto">
          <a:xfrm>
            <a:off x="3830638" y="9375775"/>
            <a:ext cx="2928937"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algn="r" defTabSz="906463">
              <a:defRPr sz="1200"/>
            </a:lvl1pPr>
          </a:lstStyle>
          <a:p>
            <a:pPr>
              <a:defRPr/>
            </a:pPr>
            <a:fld id="{13D4B19A-E16D-4015-BC5F-43B5683A8A82}"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14438" y="7829550"/>
            <a:ext cx="13773150" cy="5402263"/>
          </a:xfrm>
        </p:spPr>
        <p:txBody>
          <a:bodyPr/>
          <a:lstStyle/>
          <a:p>
            <a:r>
              <a:rPr lang="zh-CN" altLang="en-US"/>
              <a:t>单击此处编辑母版标题样式</a:t>
            </a:r>
          </a:p>
        </p:txBody>
      </p:sp>
      <p:sp>
        <p:nvSpPr>
          <p:cNvPr id="3" name="副标题 2"/>
          <p:cNvSpPr>
            <a:spLocks noGrp="1"/>
          </p:cNvSpPr>
          <p:nvPr>
            <p:ph type="subTitle" idx="1"/>
          </p:nvPr>
        </p:nvSpPr>
        <p:spPr>
          <a:xfrm>
            <a:off x="2430463" y="14281150"/>
            <a:ext cx="11341100" cy="64420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F3E920C-0CE0-6B70-D7A9-D7F01FAC2C8E}"/>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E2703369-988C-A207-9317-36B038014D92}"/>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FA063A25-9444-A33C-7445-2CC02A4F0361}"/>
              </a:ext>
            </a:extLst>
          </p:cNvPr>
          <p:cNvSpPr>
            <a:spLocks noGrp="1" noChangeArrowheads="1"/>
          </p:cNvSpPr>
          <p:nvPr>
            <p:ph type="sldNum" sz="quarter" idx="12"/>
          </p:nvPr>
        </p:nvSpPr>
        <p:spPr>
          <a:ln/>
        </p:spPr>
        <p:txBody>
          <a:bodyPr/>
          <a:lstStyle>
            <a:lvl1pPr>
              <a:defRPr/>
            </a:lvl1pPr>
          </a:lstStyle>
          <a:p>
            <a:pPr>
              <a:defRPr/>
            </a:pPr>
            <a:fld id="{4172EFAD-FBA5-49B0-A513-D63AC2987333}" type="slidenum">
              <a:rPr lang="zh-CN" altLang="en-GB"/>
              <a:pPr>
                <a:defRPr/>
              </a:pPr>
              <a:t>‹#›</a:t>
            </a:fld>
            <a:endParaRPr lang="en-GB" altLang="zh-CN"/>
          </a:p>
        </p:txBody>
      </p:sp>
    </p:spTree>
    <p:extLst>
      <p:ext uri="{BB962C8B-B14F-4D97-AF65-F5344CB8AC3E}">
        <p14:creationId xmlns:p14="http://schemas.microsoft.com/office/powerpoint/2010/main" val="269312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D3DF138-2789-DC1B-C511-897B324A25A3}"/>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B220EA5F-1D03-E32A-36A6-B2A7A5A6320B}"/>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CBF53AAF-B9F3-F627-56B0-C91D5ECB1E62}"/>
              </a:ext>
            </a:extLst>
          </p:cNvPr>
          <p:cNvSpPr>
            <a:spLocks noGrp="1" noChangeArrowheads="1"/>
          </p:cNvSpPr>
          <p:nvPr>
            <p:ph type="sldNum" sz="quarter" idx="12"/>
          </p:nvPr>
        </p:nvSpPr>
        <p:spPr>
          <a:ln/>
        </p:spPr>
        <p:txBody>
          <a:bodyPr/>
          <a:lstStyle>
            <a:lvl1pPr>
              <a:defRPr/>
            </a:lvl1pPr>
          </a:lstStyle>
          <a:p>
            <a:pPr>
              <a:defRPr/>
            </a:pPr>
            <a:fld id="{92402578-722D-440E-8058-DD6C56B694FA}" type="slidenum">
              <a:rPr lang="zh-CN" altLang="en-GB"/>
              <a:pPr>
                <a:defRPr/>
              </a:pPr>
              <a:t>‹#›</a:t>
            </a:fld>
            <a:endParaRPr lang="en-GB" altLang="zh-CN"/>
          </a:p>
        </p:txBody>
      </p:sp>
    </p:spTree>
    <p:extLst>
      <p:ext uri="{BB962C8B-B14F-4D97-AF65-F5344CB8AC3E}">
        <p14:creationId xmlns:p14="http://schemas.microsoft.com/office/powerpoint/2010/main" val="3403132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79525" y="16195675"/>
            <a:ext cx="13771563" cy="5005388"/>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1279525" y="10682288"/>
            <a:ext cx="13771563" cy="55133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F0A3E046-C595-80CA-FF60-F2DED947ABB5}"/>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017678DE-D5C0-6E6C-C2D6-F906CC40B41D}"/>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9D2018AF-561B-D4CD-1585-A51DEC8E0072}"/>
              </a:ext>
            </a:extLst>
          </p:cNvPr>
          <p:cNvSpPr>
            <a:spLocks noGrp="1" noChangeArrowheads="1"/>
          </p:cNvSpPr>
          <p:nvPr>
            <p:ph type="sldNum" sz="quarter" idx="12"/>
          </p:nvPr>
        </p:nvSpPr>
        <p:spPr>
          <a:ln/>
        </p:spPr>
        <p:txBody>
          <a:bodyPr/>
          <a:lstStyle>
            <a:lvl1pPr>
              <a:defRPr/>
            </a:lvl1pPr>
          </a:lstStyle>
          <a:p>
            <a:pPr>
              <a:defRPr/>
            </a:pPr>
            <a:fld id="{B7988566-A84C-43C4-A53D-DA08B005DCD0}" type="slidenum">
              <a:rPr lang="zh-CN" altLang="en-GB"/>
              <a:pPr>
                <a:defRPr/>
              </a:pPr>
              <a:t>‹#›</a:t>
            </a:fld>
            <a:endParaRPr lang="en-GB" altLang="zh-CN"/>
          </a:p>
        </p:txBody>
      </p:sp>
    </p:spTree>
    <p:extLst>
      <p:ext uri="{BB962C8B-B14F-4D97-AF65-F5344CB8AC3E}">
        <p14:creationId xmlns:p14="http://schemas.microsoft.com/office/powerpoint/2010/main" val="180871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214438"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8177213"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24AE187-7FAB-CD57-B499-B49C1E17D27E}"/>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799CBAEE-5195-3D2A-660E-01A72D67206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1E3EA70E-001E-865D-9C04-E0F45E31A8FB}"/>
              </a:ext>
            </a:extLst>
          </p:cNvPr>
          <p:cNvSpPr>
            <a:spLocks noGrp="1" noChangeArrowheads="1"/>
          </p:cNvSpPr>
          <p:nvPr>
            <p:ph type="sldNum" sz="quarter" idx="12"/>
          </p:nvPr>
        </p:nvSpPr>
        <p:spPr>
          <a:ln/>
        </p:spPr>
        <p:txBody>
          <a:bodyPr/>
          <a:lstStyle>
            <a:lvl1pPr>
              <a:defRPr/>
            </a:lvl1pPr>
          </a:lstStyle>
          <a:p>
            <a:pPr>
              <a:defRPr/>
            </a:pPr>
            <a:fld id="{6AE89A27-3BFF-49BE-BDDE-0E58F00222FB}" type="slidenum">
              <a:rPr lang="zh-CN" altLang="en-GB"/>
              <a:pPr>
                <a:defRPr/>
              </a:pPr>
              <a:t>‹#›</a:t>
            </a:fld>
            <a:endParaRPr lang="en-GB" altLang="zh-CN"/>
          </a:p>
        </p:txBody>
      </p:sp>
    </p:spTree>
    <p:extLst>
      <p:ext uri="{BB962C8B-B14F-4D97-AF65-F5344CB8AC3E}">
        <p14:creationId xmlns:p14="http://schemas.microsoft.com/office/powerpoint/2010/main" val="1682195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9650"/>
            <a:ext cx="14582775" cy="4200525"/>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809625" y="5641975"/>
            <a:ext cx="7159625"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09625" y="7993063"/>
            <a:ext cx="7159625"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8231188" y="5641975"/>
            <a:ext cx="7161212"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8231188" y="7993063"/>
            <a:ext cx="7161212"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EB52264-035B-AAEE-5909-0B2F8850AB86}"/>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8" name="Rectangle 5">
            <a:extLst>
              <a:ext uri="{FF2B5EF4-FFF2-40B4-BE49-F238E27FC236}">
                <a16:creationId xmlns:a16="http://schemas.microsoft.com/office/drawing/2014/main" id="{215D40D5-AB96-960D-C890-6AEC7020247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9" name="Rectangle 6">
            <a:extLst>
              <a:ext uri="{FF2B5EF4-FFF2-40B4-BE49-F238E27FC236}">
                <a16:creationId xmlns:a16="http://schemas.microsoft.com/office/drawing/2014/main" id="{BA319308-21C0-FCA6-C8FA-D98CA57E63C1}"/>
              </a:ext>
            </a:extLst>
          </p:cNvPr>
          <p:cNvSpPr>
            <a:spLocks noGrp="1" noChangeArrowheads="1"/>
          </p:cNvSpPr>
          <p:nvPr>
            <p:ph type="sldNum" sz="quarter" idx="12"/>
          </p:nvPr>
        </p:nvSpPr>
        <p:spPr>
          <a:ln/>
        </p:spPr>
        <p:txBody>
          <a:bodyPr/>
          <a:lstStyle>
            <a:lvl1pPr>
              <a:defRPr/>
            </a:lvl1pPr>
          </a:lstStyle>
          <a:p>
            <a:pPr>
              <a:defRPr/>
            </a:pPr>
            <a:fld id="{0B63F2F4-77B8-49D6-9C90-9C1814BBC4B4}" type="slidenum">
              <a:rPr lang="zh-CN" altLang="en-GB"/>
              <a:pPr>
                <a:defRPr/>
              </a:pPr>
              <a:t>‹#›</a:t>
            </a:fld>
            <a:endParaRPr lang="en-GB" altLang="zh-CN"/>
          </a:p>
        </p:txBody>
      </p:sp>
    </p:spTree>
    <p:extLst>
      <p:ext uri="{BB962C8B-B14F-4D97-AF65-F5344CB8AC3E}">
        <p14:creationId xmlns:p14="http://schemas.microsoft.com/office/powerpoint/2010/main" val="4179100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855F8A6-F934-ED67-BFAB-97E05C33CB3F}"/>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4" name="Rectangle 5">
            <a:extLst>
              <a:ext uri="{FF2B5EF4-FFF2-40B4-BE49-F238E27FC236}">
                <a16:creationId xmlns:a16="http://schemas.microsoft.com/office/drawing/2014/main" id="{264D4E76-861B-AE9D-C2AC-895793FB0F5A}"/>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5" name="Rectangle 6">
            <a:extLst>
              <a:ext uri="{FF2B5EF4-FFF2-40B4-BE49-F238E27FC236}">
                <a16:creationId xmlns:a16="http://schemas.microsoft.com/office/drawing/2014/main" id="{89A700DF-1745-F0CC-B14D-0F4D9290F89B}"/>
              </a:ext>
            </a:extLst>
          </p:cNvPr>
          <p:cNvSpPr>
            <a:spLocks noGrp="1" noChangeArrowheads="1"/>
          </p:cNvSpPr>
          <p:nvPr>
            <p:ph type="sldNum" sz="quarter" idx="12"/>
          </p:nvPr>
        </p:nvSpPr>
        <p:spPr>
          <a:ln/>
        </p:spPr>
        <p:txBody>
          <a:bodyPr/>
          <a:lstStyle>
            <a:lvl1pPr>
              <a:defRPr/>
            </a:lvl1pPr>
          </a:lstStyle>
          <a:p>
            <a:pPr>
              <a:defRPr/>
            </a:pPr>
            <a:fld id="{E0C6EBB9-3455-4282-A9FC-4F724454A56B}" type="slidenum">
              <a:rPr lang="zh-CN" altLang="en-GB"/>
              <a:pPr>
                <a:defRPr/>
              </a:pPr>
              <a:t>‹#›</a:t>
            </a:fld>
            <a:endParaRPr lang="en-GB" altLang="zh-CN"/>
          </a:p>
        </p:txBody>
      </p:sp>
    </p:spTree>
    <p:extLst>
      <p:ext uri="{BB962C8B-B14F-4D97-AF65-F5344CB8AC3E}">
        <p14:creationId xmlns:p14="http://schemas.microsoft.com/office/powerpoint/2010/main" val="403222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6D9185C-B7D7-F4D1-269B-6F192DE310B1}"/>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3" name="Rectangle 5">
            <a:extLst>
              <a:ext uri="{FF2B5EF4-FFF2-40B4-BE49-F238E27FC236}">
                <a16:creationId xmlns:a16="http://schemas.microsoft.com/office/drawing/2014/main" id="{A42F620B-DE80-B439-4128-3465E32A1AF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4" name="Rectangle 6">
            <a:extLst>
              <a:ext uri="{FF2B5EF4-FFF2-40B4-BE49-F238E27FC236}">
                <a16:creationId xmlns:a16="http://schemas.microsoft.com/office/drawing/2014/main" id="{4A3AE921-E65F-302A-4B8E-4B34FA7FD234}"/>
              </a:ext>
            </a:extLst>
          </p:cNvPr>
          <p:cNvSpPr>
            <a:spLocks noGrp="1" noChangeArrowheads="1"/>
          </p:cNvSpPr>
          <p:nvPr>
            <p:ph type="sldNum" sz="quarter" idx="12"/>
          </p:nvPr>
        </p:nvSpPr>
        <p:spPr>
          <a:ln/>
        </p:spPr>
        <p:txBody>
          <a:bodyPr/>
          <a:lstStyle>
            <a:lvl1pPr>
              <a:defRPr/>
            </a:lvl1pPr>
          </a:lstStyle>
          <a:p>
            <a:pPr>
              <a:defRPr/>
            </a:pPr>
            <a:fld id="{2AA7769C-673A-40D6-A368-CBE1EA28F8F1}" type="slidenum">
              <a:rPr lang="zh-CN" altLang="en-GB"/>
              <a:pPr>
                <a:defRPr/>
              </a:pPr>
              <a:t>‹#›</a:t>
            </a:fld>
            <a:endParaRPr lang="en-GB" altLang="zh-CN"/>
          </a:p>
        </p:txBody>
      </p:sp>
    </p:spTree>
    <p:extLst>
      <p:ext uri="{BB962C8B-B14F-4D97-AF65-F5344CB8AC3E}">
        <p14:creationId xmlns:p14="http://schemas.microsoft.com/office/powerpoint/2010/main" val="3853696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3300"/>
            <a:ext cx="5330825" cy="4270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6334125" y="1003300"/>
            <a:ext cx="9058275" cy="21510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09625" y="5273675"/>
            <a:ext cx="5330825" cy="17240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8D1FAE0-7A29-A26E-8E5D-8BE9B39CADBB}"/>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271C52D0-DF7A-BAC1-A3FF-F2BF0110ED34}"/>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DEA6410D-2172-5395-D8FF-4CD3823FA028}"/>
              </a:ext>
            </a:extLst>
          </p:cNvPr>
          <p:cNvSpPr>
            <a:spLocks noGrp="1" noChangeArrowheads="1"/>
          </p:cNvSpPr>
          <p:nvPr>
            <p:ph type="sldNum" sz="quarter" idx="12"/>
          </p:nvPr>
        </p:nvSpPr>
        <p:spPr>
          <a:ln/>
        </p:spPr>
        <p:txBody>
          <a:bodyPr/>
          <a:lstStyle>
            <a:lvl1pPr>
              <a:defRPr/>
            </a:lvl1pPr>
          </a:lstStyle>
          <a:p>
            <a:pPr>
              <a:defRPr/>
            </a:pPr>
            <a:fld id="{F52452AD-FEE8-414F-A5D1-D5F61FC809D7}" type="slidenum">
              <a:rPr lang="zh-CN" altLang="en-GB"/>
              <a:pPr>
                <a:defRPr/>
              </a:pPr>
              <a:t>‹#›</a:t>
            </a:fld>
            <a:endParaRPr lang="en-GB" altLang="zh-CN"/>
          </a:p>
        </p:txBody>
      </p:sp>
    </p:spTree>
    <p:extLst>
      <p:ext uri="{BB962C8B-B14F-4D97-AF65-F5344CB8AC3E}">
        <p14:creationId xmlns:p14="http://schemas.microsoft.com/office/powerpoint/2010/main" val="1948174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5000" y="17641888"/>
            <a:ext cx="9721850" cy="208280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3175000" y="2252663"/>
            <a:ext cx="9721850" cy="151209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3175000" y="19724688"/>
            <a:ext cx="9721850" cy="2957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3F66BF7-6D1F-CDA4-7772-5721D3E78214}"/>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B7FE0CBB-A340-0C2F-0813-35A383FAB5B6}"/>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F3A88722-6BA8-A7E3-C1C0-251E7528B642}"/>
              </a:ext>
            </a:extLst>
          </p:cNvPr>
          <p:cNvSpPr>
            <a:spLocks noGrp="1" noChangeArrowheads="1"/>
          </p:cNvSpPr>
          <p:nvPr>
            <p:ph type="sldNum" sz="quarter" idx="12"/>
          </p:nvPr>
        </p:nvSpPr>
        <p:spPr>
          <a:ln/>
        </p:spPr>
        <p:txBody>
          <a:bodyPr/>
          <a:lstStyle>
            <a:lvl1pPr>
              <a:defRPr/>
            </a:lvl1pPr>
          </a:lstStyle>
          <a:p>
            <a:pPr>
              <a:defRPr/>
            </a:pPr>
            <a:fld id="{99B899DE-3806-4A69-B724-DBC16393E127}" type="slidenum">
              <a:rPr lang="zh-CN" altLang="en-GB"/>
              <a:pPr>
                <a:defRPr/>
              </a:pPr>
              <a:t>‹#›</a:t>
            </a:fld>
            <a:endParaRPr lang="en-GB" altLang="zh-CN"/>
          </a:p>
        </p:txBody>
      </p:sp>
    </p:spTree>
    <p:extLst>
      <p:ext uri="{BB962C8B-B14F-4D97-AF65-F5344CB8AC3E}">
        <p14:creationId xmlns:p14="http://schemas.microsoft.com/office/powerpoint/2010/main" val="4202953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8E464FE-E1A1-0F23-C0AE-1E3A0F4EBE10}"/>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ECC1A378-C8C4-9391-11A1-D5CA3C053C48}"/>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E52541D4-0924-DE9B-9196-079A0333991E}"/>
              </a:ext>
            </a:extLst>
          </p:cNvPr>
          <p:cNvSpPr>
            <a:spLocks noGrp="1" noChangeArrowheads="1"/>
          </p:cNvSpPr>
          <p:nvPr>
            <p:ph type="sldNum" sz="quarter" idx="12"/>
          </p:nvPr>
        </p:nvSpPr>
        <p:spPr>
          <a:ln/>
        </p:spPr>
        <p:txBody>
          <a:bodyPr/>
          <a:lstStyle>
            <a:lvl1pPr>
              <a:defRPr/>
            </a:lvl1pPr>
          </a:lstStyle>
          <a:p>
            <a:pPr>
              <a:defRPr/>
            </a:pPr>
            <a:fld id="{9CA38284-8716-4BBF-9932-0BB253C8350C}" type="slidenum">
              <a:rPr lang="zh-CN" altLang="en-GB"/>
              <a:pPr>
                <a:defRPr/>
              </a:pPr>
              <a:t>‹#›</a:t>
            </a:fld>
            <a:endParaRPr lang="en-GB" altLang="zh-CN"/>
          </a:p>
        </p:txBody>
      </p:sp>
    </p:spTree>
    <p:extLst>
      <p:ext uri="{BB962C8B-B14F-4D97-AF65-F5344CB8AC3E}">
        <p14:creationId xmlns:p14="http://schemas.microsoft.com/office/powerpoint/2010/main" val="1288548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544300" y="2239963"/>
            <a:ext cx="3443288" cy="201628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14438" y="2239963"/>
            <a:ext cx="10177462" cy="20162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823A049-FFE5-37DB-6C4F-5F5850D91DD6}"/>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2098EA28-639E-3EB3-6D15-85CE71E5BF26}"/>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E9B5B5DB-13C3-8515-0B81-11F54F986810}"/>
              </a:ext>
            </a:extLst>
          </p:cNvPr>
          <p:cNvSpPr>
            <a:spLocks noGrp="1" noChangeArrowheads="1"/>
          </p:cNvSpPr>
          <p:nvPr>
            <p:ph type="sldNum" sz="quarter" idx="12"/>
          </p:nvPr>
        </p:nvSpPr>
        <p:spPr>
          <a:ln/>
        </p:spPr>
        <p:txBody>
          <a:bodyPr/>
          <a:lstStyle>
            <a:lvl1pPr>
              <a:defRPr/>
            </a:lvl1pPr>
          </a:lstStyle>
          <a:p>
            <a:pPr>
              <a:defRPr/>
            </a:pPr>
            <a:fld id="{138B3514-84E7-4E1F-8C3A-C0445F6C5DAF}" type="slidenum">
              <a:rPr lang="zh-CN" altLang="en-GB"/>
              <a:pPr>
                <a:defRPr/>
              </a:pPr>
              <a:t>‹#›</a:t>
            </a:fld>
            <a:endParaRPr lang="en-GB" altLang="zh-CN"/>
          </a:p>
        </p:txBody>
      </p:sp>
    </p:spTree>
    <p:extLst>
      <p:ext uri="{BB962C8B-B14F-4D97-AF65-F5344CB8AC3E}">
        <p14:creationId xmlns:p14="http://schemas.microsoft.com/office/powerpoint/2010/main" val="294778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CEB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06E318-DDFE-6D22-C9AD-898504A95C5A}"/>
              </a:ext>
            </a:extLst>
          </p:cNvPr>
          <p:cNvSpPr>
            <a:spLocks noGrp="1" noChangeArrowheads="1"/>
          </p:cNvSpPr>
          <p:nvPr>
            <p:ph type="title"/>
          </p:nvPr>
        </p:nvSpPr>
        <p:spPr bwMode="auto">
          <a:xfrm>
            <a:off x="1214438" y="2239963"/>
            <a:ext cx="13773150" cy="420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ctr" anchorCtr="0" compatLnSpc="1">
            <a:prstTxWarp prst="textNoShape">
              <a:avLst/>
            </a:prstTxWarp>
          </a:bodyPr>
          <a:lstStyle/>
          <a:p>
            <a:pPr lvl="0"/>
            <a:r>
              <a:rPr lang="en-GB" altLang="zh-CN"/>
              <a:t>Click to edit Master title style</a:t>
            </a:r>
          </a:p>
        </p:txBody>
      </p:sp>
      <p:sp>
        <p:nvSpPr>
          <p:cNvPr id="1027" name="Rectangle 3">
            <a:extLst>
              <a:ext uri="{FF2B5EF4-FFF2-40B4-BE49-F238E27FC236}">
                <a16:creationId xmlns:a16="http://schemas.microsoft.com/office/drawing/2014/main" id="{568E810B-CD4C-6D51-253B-C3F9B3F14B0E}"/>
              </a:ext>
            </a:extLst>
          </p:cNvPr>
          <p:cNvSpPr>
            <a:spLocks noGrp="1" noChangeArrowheads="1"/>
          </p:cNvSpPr>
          <p:nvPr>
            <p:ph type="body" idx="1"/>
          </p:nvPr>
        </p:nvSpPr>
        <p:spPr bwMode="auto">
          <a:xfrm>
            <a:off x="1214438" y="7278688"/>
            <a:ext cx="13773150" cy="151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1028" name="Rectangle 4">
            <a:extLst>
              <a:ext uri="{FF2B5EF4-FFF2-40B4-BE49-F238E27FC236}">
                <a16:creationId xmlns:a16="http://schemas.microsoft.com/office/drawing/2014/main" id="{0841E99A-CE94-A762-9C53-DD37450D4B45}"/>
              </a:ext>
            </a:extLst>
          </p:cNvPr>
          <p:cNvSpPr>
            <a:spLocks noGrp="1" noChangeArrowheads="1"/>
          </p:cNvSpPr>
          <p:nvPr>
            <p:ph type="dt" sz="half" idx="2"/>
          </p:nvPr>
        </p:nvSpPr>
        <p:spPr bwMode="auto">
          <a:xfrm>
            <a:off x="1214438" y="22963188"/>
            <a:ext cx="3376612"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defRPr sz="3400">
                <a:ea typeface="宋体" pitchFamily="2" charset="-122"/>
              </a:defRPr>
            </a:lvl1pPr>
          </a:lstStyle>
          <a:p>
            <a:pPr>
              <a:defRPr/>
            </a:pPr>
            <a:endParaRPr lang="en-GB" altLang="zh-CN"/>
          </a:p>
        </p:txBody>
      </p:sp>
      <p:sp>
        <p:nvSpPr>
          <p:cNvPr id="1029" name="Rectangle 5">
            <a:extLst>
              <a:ext uri="{FF2B5EF4-FFF2-40B4-BE49-F238E27FC236}">
                <a16:creationId xmlns:a16="http://schemas.microsoft.com/office/drawing/2014/main" id="{89920123-9ACB-FE73-5F0B-9041B447283A}"/>
              </a:ext>
            </a:extLst>
          </p:cNvPr>
          <p:cNvSpPr>
            <a:spLocks noGrp="1" noChangeArrowheads="1"/>
          </p:cNvSpPr>
          <p:nvPr>
            <p:ph type="ftr" sz="quarter" idx="3"/>
          </p:nvPr>
        </p:nvSpPr>
        <p:spPr bwMode="auto">
          <a:xfrm>
            <a:off x="5535613" y="22963188"/>
            <a:ext cx="5130800"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ctr">
              <a:defRPr sz="3400">
                <a:ea typeface="宋体" pitchFamily="2" charset="-122"/>
              </a:defRPr>
            </a:lvl1pPr>
          </a:lstStyle>
          <a:p>
            <a:pPr>
              <a:defRPr/>
            </a:pPr>
            <a:endParaRPr lang="en-GB" altLang="zh-CN"/>
          </a:p>
        </p:txBody>
      </p:sp>
      <p:sp>
        <p:nvSpPr>
          <p:cNvPr id="1030" name="Rectangle 6">
            <a:extLst>
              <a:ext uri="{FF2B5EF4-FFF2-40B4-BE49-F238E27FC236}">
                <a16:creationId xmlns:a16="http://schemas.microsoft.com/office/drawing/2014/main" id="{04DB36CC-3AD9-04D7-1EAD-2198D7F05EAC}"/>
              </a:ext>
            </a:extLst>
          </p:cNvPr>
          <p:cNvSpPr>
            <a:spLocks noGrp="1" noChangeArrowheads="1"/>
          </p:cNvSpPr>
          <p:nvPr>
            <p:ph type="sldNum" sz="quarter" idx="4"/>
          </p:nvPr>
        </p:nvSpPr>
        <p:spPr bwMode="auto">
          <a:xfrm>
            <a:off x="11610975" y="22963188"/>
            <a:ext cx="3376613"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r">
              <a:defRPr sz="3400">
                <a:ea typeface="宋体" panose="02010600030101010101" pitchFamily="2" charset="-122"/>
              </a:defRPr>
            </a:lvl1pPr>
          </a:lstStyle>
          <a:p>
            <a:pPr>
              <a:defRPr/>
            </a:pPr>
            <a:fld id="{7D8387B6-7DF5-4C25-99AA-1597FB26415D}"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224088" rtl="0" eaLnBrk="0" fontAlgn="base" hangingPunct="0">
        <a:spcBef>
          <a:spcPct val="0"/>
        </a:spcBef>
        <a:spcAft>
          <a:spcPct val="0"/>
        </a:spcAft>
        <a:defRPr sz="10700">
          <a:solidFill>
            <a:schemeClr val="tx2"/>
          </a:solidFill>
          <a:latin typeface="+mj-lt"/>
          <a:ea typeface="+mj-ea"/>
          <a:cs typeface="+mj-cs"/>
        </a:defRPr>
      </a:lvl1pPr>
      <a:lvl2pPr algn="ctr" defTabSz="2224088" rtl="0" eaLnBrk="0" fontAlgn="base" hangingPunct="0">
        <a:spcBef>
          <a:spcPct val="0"/>
        </a:spcBef>
        <a:spcAft>
          <a:spcPct val="0"/>
        </a:spcAft>
        <a:defRPr sz="10700">
          <a:solidFill>
            <a:schemeClr val="tx2"/>
          </a:solidFill>
          <a:latin typeface="Times New Roman" pitchFamily="18" charset="0"/>
        </a:defRPr>
      </a:lvl2pPr>
      <a:lvl3pPr algn="ctr" defTabSz="2224088" rtl="0" eaLnBrk="0" fontAlgn="base" hangingPunct="0">
        <a:spcBef>
          <a:spcPct val="0"/>
        </a:spcBef>
        <a:spcAft>
          <a:spcPct val="0"/>
        </a:spcAft>
        <a:defRPr sz="10700">
          <a:solidFill>
            <a:schemeClr val="tx2"/>
          </a:solidFill>
          <a:latin typeface="Times New Roman" pitchFamily="18" charset="0"/>
        </a:defRPr>
      </a:lvl3pPr>
      <a:lvl4pPr algn="ctr" defTabSz="2224088" rtl="0" eaLnBrk="0" fontAlgn="base" hangingPunct="0">
        <a:spcBef>
          <a:spcPct val="0"/>
        </a:spcBef>
        <a:spcAft>
          <a:spcPct val="0"/>
        </a:spcAft>
        <a:defRPr sz="10700">
          <a:solidFill>
            <a:schemeClr val="tx2"/>
          </a:solidFill>
          <a:latin typeface="Times New Roman" pitchFamily="18" charset="0"/>
        </a:defRPr>
      </a:lvl4pPr>
      <a:lvl5pPr algn="ctr" defTabSz="2224088" rtl="0" eaLnBrk="0" fontAlgn="base" hangingPunct="0">
        <a:spcBef>
          <a:spcPct val="0"/>
        </a:spcBef>
        <a:spcAft>
          <a:spcPct val="0"/>
        </a:spcAft>
        <a:defRPr sz="10700">
          <a:solidFill>
            <a:schemeClr val="tx2"/>
          </a:solidFill>
          <a:latin typeface="Times New Roman" pitchFamily="18" charset="0"/>
        </a:defRPr>
      </a:lvl5pPr>
      <a:lvl6pPr marL="457200" algn="ctr" defTabSz="2224088" rtl="0" eaLnBrk="0" fontAlgn="base" hangingPunct="0">
        <a:spcBef>
          <a:spcPct val="0"/>
        </a:spcBef>
        <a:spcAft>
          <a:spcPct val="0"/>
        </a:spcAft>
        <a:defRPr sz="10700">
          <a:solidFill>
            <a:schemeClr val="tx2"/>
          </a:solidFill>
          <a:latin typeface="Times New Roman" pitchFamily="18" charset="0"/>
        </a:defRPr>
      </a:lvl6pPr>
      <a:lvl7pPr marL="914400" algn="ctr" defTabSz="2224088" rtl="0" eaLnBrk="0" fontAlgn="base" hangingPunct="0">
        <a:spcBef>
          <a:spcPct val="0"/>
        </a:spcBef>
        <a:spcAft>
          <a:spcPct val="0"/>
        </a:spcAft>
        <a:defRPr sz="10700">
          <a:solidFill>
            <a:schemeClr val="tx2"/>
          </a:solidFill>
          <a:latin typeface="Times New Roman" pitchFamily="18" charset="0"/>
        </a:defRPr>
      </a:lvl7pPr>
      <a:lvl8pPr marL="1371600" algn="ctr" defTabSz="2224088" rtl="0" eaLnBrk="0" fontAlgn="base" hangingPunct="0">
        <a:spcBef>
          <a:spcPct val="0"/>
        </a:spcBef>
        <a:spcAft>
          <a:spcPct val="0"/>
        </a:spcAft>
        <a:defRPr sz="10700">
          <a:solidFill>
            <a:schemeClr val="tx2"/>
          </a:solidFill>
          <a:latin typeface="Times New Roman" pitchFamily="18" charset="0"/>
        </a:defRPr>
      </a:lvl8pPr>
      <a:lvl9pPr marL="1828800" algn="ctr" defTabSz="2224088" rtl="0" eaLnBrk="0" fontAlgn="base" hangingPunct="0">
        <a:spcBef>
          <a:spcPct val="0"/>
        </a:spcBef>
        <a:spcAft>
          <a:spcPct val="0"/>
        </a:spcAft>
        <a:defRPr sz="10700">
          <a:solidFill>
            <a:schemeClr val="tx2"/>
          </a:solidFill>
          <a:latin typeface="Times New Roman" pitchFamily="18" charset="0"/>
        </a:defRPr>
      </a:lvl9pPr>
    </p:titleStyle>
    <p:bodyStyle>
      <a:lvl1pPr marL="835025" indent="-835025" algn="l" defTabSz="2224088" rtl="0" eaLnBrk="0" fontAlgn="base" hangingPunct="0">
        <a:spcBef>
          <a:spcPct val="20000"/>
        </a:spcBef>
        <a:spcAft>
          <a:spcPct val="0"/>
        </a:spcAft>
        <a:buChar char="•"/>
        <a:defRPr sz="7800">
          <a:solidFill>
            <a:schemeClr val="tx1"/>
          </a:solidFill>
          <a:latin typeface="+mn-lt"/>
          <a:ea typeface="+mn-ea"/>
          <a:cs typeface="+mn-cs"/>
        </a:defRPr>
      </a:lvl1pPr>
      <a:lvl2pPr marL="1806575" indent="-695325" algn="l" defTabSz="2224088" rtl="0" eaLnBrk="0" fontAlgn="base" hangingPunct="0">
        <a:spcBef>
          <a:spcPct val="20000"/>
        </a:spcBef>
        <a:spcAft>
          <a:spcPct val="0"/>
        </a:spcAft>
        <a:buChar char="–"/>
        <a:defRPr sz="6800">
          <a:solidFill>
            <a:schemeClr val="tx1"/>
          </a:solidFill>
          <a:latin typeface="+mn-lt"/>
        </a:defRPr>
      </a:lvl2pPr>
      <a:lvl3pPr marL="2779713" indent="-555625" algn="l" defTabSz="2224088" rtl="0" eaLnBrk="0" fontAlgn="base" hangingPunct="0">
        <a:spcBef>
          <a:spcPct val="20000"/>
        </a:spcBef>
        <a:spcAft>
          <a:spcPct val="0"/>
        </a:spcAft>
        <a:buChar char="•"/>
        <a:defRPr sz="5900">
          <a:solidFill>
            <a:schemeClr val="tx1"/>
          </a:solidFill>
          <a:latin typeface="+mn-lt"/>
        </a:defRPr>
      </a:lvl3pPr>
      <a:lvl4pPr marL="3892550" indent="-557213" algn="l" defTabSz="2224088" rtl="0" eaLnBrk="0" fontAlgn="base" hangingPunct="0">
        <a:spcBef>
          <a:spcPct val="20000"/>
        </a:spcBef>
        <a:spcAft>
          <a:spcPct val="0"/>
        </a:spcAft>
        <a:buChar char="–"/>
        <a:defRPr sz="4900">
          <a:solidFill>
            <a:schemeClr val="tx1"/>
          </a:solidFill>
          <a:latin typeface="+mn-lt"/>
        </a:defRPr>
      </a:lvl4pPr>
      <a:lvl5pPr marL="5003800" indent="-557213" algn="l" defTabSz="2224088" rtl="0" eaLnBrk="0" fontAlgn="base" hangingPunct="0">
        <a:spcBef>
          <a:spcPct val="20000"/>
        </a:spcBef>
        <a:spcAft>
          <a:spcPct val="0"/>
        </a:spcAft>
        <a:buChar char="»"/>
        <a:defRPr sz="4900">
          <a:solidFill>
            <a:schemeClr val="tx1"/>
          </a:solidFill>
          <a:latin typeface="+mn-lt"/>
        </a:defRPr>
      </a:lvl5pPr>
      <a:lvl6pPr marL="5461000" indent="-557213" algn="l" defTabSz="2224088" rtl="0" eaLnBrk="0" fontAlgn="base" hangingPunct="0">
        <a:spcBef>
          <a:spcPct val="20000"/>
        </a:spcBef>
        <a:spcAft>
          <a:spcPct val="0"/>
        </a:spcAft>
        <a:buChar char="»"/>
        <a:defRPr sz="4900">
          <a:solidFill>
            <a:schemeClr val="tx1"/>
          </a:solidFill>
          <a:latin typeface="+mn-lt"/>
        </a:defRPr>
      </a:lvl6pPr>
      <a:lvl7pPr marL="5918200" indent="-557213" algn="l" defTabSz="2224088" rtl="0" eaLnBrk="0" fontAlgn="base" hangingPunct="0">
        <a:spcBef>
          <a:spcPct val="20000"/>
        </a:spcBef>
        <a:spcAft>
          <a:spcPct val="0"/>
        </a:spcAft>
        <a:buChar char="»"/>
        <a:defRPr sz="4900">
          <a:solidFill>
            <a:schemeClr val="tx1"/>
          </a:solidFill>
          <a:latin typeface="+mn-lt"/>
        </a:defRPr>
      </a:lvl7pPr>
      <a:lvl8pPr marL="6375400" indent="-557213" algn="l" defTabSz="2224088" rtl="0" eaLnBrk="0" fontAlgn="base" hangingPunct="0">
        <a:spcBef>
          <a:spcPct val="20000"/>
        </a:spcBef>
        <a:spcAft>
          <a:spcPct val="0"/>
        </a:spcAft>
        <a:buChar char="»"/>
        <a:defRPr sz="4900">
          <a:solidFill>
            <a:schemeClr val="tx1"/>
          </a:solidFill>
          <a:latin typeface="+mn-lt"/>
        </a:defRPr>
      </a:lvl8pPr>
      <a:lvl9pPr marL="6832600" indent="-557213" algn="l" defTabSz="2224088" rtl="0" eaLnBrk="0" fontAlgn="base" hangingPunct="0">
        <a:spcBef>
          <a:spcPct val="20000"/>
        </a:spcBef>
        <a:spcAft>
          <a:spcPct val="0"/>
        </a:spcAft>
        <a:buChar char="»"/>
        <a:defRPr sz="49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esearchgate.net/publication/312497233_Drones_for_Normalized_Difference_Vegetation_Index_NDVI_to_Estimate_Crop_Health_for_Precision_Agriculture_A_Cheaper_Alternative_for_Spatial_Satellite_Sensors" TargetMode="External"/><Relationship Id="rId2" Type="http://schemas.openxmlformats.org/officeDocument/2006/relationships/hyperlink" Target="https://ieeexplore.ieee.org/document/9951038/" TargetMode="External"/><Relationship Id="rId1" Type="http://schemas.openxmlformats.org/officeDocument/2006/relationships/slideLayout" Target="../slideLayouts/slideLayout4.xml"/><Relationship Id="rId5" Type="http://schemas.openxmlformats.org/officeDocument/2006/relationships/image" Target="../media/image2.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E2"/>
        </a:solidFill>
        <a:effectLst/>
      </p:bgPr>
    </p:bg>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8F35A428-DC17-BD21-2E12-63C27A0A53EB}"/>
              </a:ext>
            </a:extLst>
          </p:cNvPr>
          <p:cNvSpPr>
            <a:spLocks noGrp="1" noChangeArrowheads="1"/>
          </p:cNvSpPr>
          <p:nvPr>
            <p:ph type="title"/>
          </p:nvPr>
        </p:nvSpPr>
        <p:spPr>
          <a:xfrm>
            <a:off x="1698625" y="25400"/>
            <a:ext cx="12739688" cy="1289050"/>
          </a:xfrm>
        </p:spPr>
        <p:txBody>
          <a:bodyPr/>
          <a:lstStyle/>
          <a:p>
            <a:r>
              <a:rPr lang="en-US" sz="3200" b="1">
                <a:solidFill>
                  <a:srgbClr val="339966"/>
                </a:solidFill>
                <a:ea typeface="+mj-lt"/>
                <a:cs typeface="+mj-lt"/>
              </a:rPr>
              <a:t>Drone-to-Drone Collaboration for Agricultural Surveillance</a:t>
            </a:r>
            <a:endParaRPr lang="en-US" sz="3200" b="1">
              <a:cs typeface="Times New Roman"/>
            </a:endParaRPr>
          </a:p>
          <a:p>
            <a:endParaRPr lang="en-US" altLang="zh-CN" sz="3000" b="1" dirty="0">
              <a:solidFill>
                <a:srgbClr val="339966"/>
              </a:solidFill>
              <a:ea typeface="宋体"/>
              <a:cs typeface="Times New Roman"/>
            </a:endParaRPr>
          </a:p>
        </p:txBody>
      </p:sp>
      <p:sp>
        <p:nvSpPr>
          <p:cNvPr id="3097" name="Rectangle 12">
            <a:extLst>
              <a:ext uri="{FF2B5EF4-FFF2-40B4-BE49-F238E27FC236}">
                <a16:creationId xmlns:a16="http://schemas.microsoft.com/office/drawing/2014/main" id="{6E000C73-F7DD-4851-E7F5-3E6EA913FB15}"/>
              </a:ext>
            </a:extLst>
          </p:cNvPr>
          <p:cNvSpPr>
            <a:spLocks noChangeArrowheads="1"/>
          </p:cNvSpPr>
          <p:nvPr/>
        </p:nvSpPr>
        <p:spPr bwMode="auto">
          <a:xfrm>
            <a:off x="-175427" y="1312998"/>
            <a:ext cx="1589165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2354" tIns="111176" rIns="222354" bIns="111176" anchor="ctr"/>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buNone/>
            </a:pPr>
            <a:r>
              <a:rPr lang="en-GB" sz="2400">
                <a:solidFill>
                  <a:srgbClr val="339966"/>
                </a:solidFill>
                <a:latin typeface="Times New Roman"/>
                <a:ea typeface="宋体"/>
                <a:cs typeface="Times New Roman"/>
              </a:rPr>
              <a:t>Ali Hassan Abushaheen</a:t>
            </a:r>
            <a:endParaRPr lang="en-GB" sz="2400" dirty="0">
              <a:solidFill>
                <a:srgbClr val="339966"/>
              </a:solidFill>
              <a:latin typeface="Times New Roman"/>
              <a:ea typeface="宋体"/>
              <a:cs typeface="Times New Roman"/>
            </a:endParaRPr>
          </a:p>
          <a:p>
            <a:pPr algn="ctr">
              <a:buNone/>
            </a:pPr>
            <a:r>
              <a:rPr lang="en-GB" sz="2400" dirty="0">
                <a:solidFill>
                  <a:srgbClr val="339966"/>
                </a:solidFill>
                <a:latin typeface="Times New Roman"/>
                <a:ea typeface="宋体"/>
                <a:cs typeface="Times New Roman"/>
              </a:rPr>
              <a:t>  Mohammed Jassim Aleid </a:t>
            </a:r>
          </a:p>
          <a:p>
            <a:pPr algn="ctr">
              <a:buNone/>
            </a:pPr>
            <a:r>
              <a:rPr lang="en-GB" sz="2400" dirty="0">
                <a:solidFill>
                  <a:srgbClr val="339966"/>
                </a:solidFill>
                <a:latin typeface="Times New Roman"/>
                <a:ea typeface="宋体"/>
                <a:cs typeface="Times New Roman"/>
              </a:rPr>
              <a:t>Ali  Abdulnasser </a:t>
            </a:r>
            <a:r>
              <a:rPr lang="en-GB" sz="2400" dirty="0" err="1">
                <a:solidFill>
                  <a:srgbClr val="339966"/>
                </a:solidFill>
                <a:latin typeface="Times New Roman"/>
                <a:ea typeface="宋体"/>
                <a:cs typeface="Times New Roman"/>
              </a:rPr>
              <a:t>Almashan</a:t>
            </a:r>
            <a:endParaRPr lang="en-GB" sz="2400" dirty="0">
              <a:solidFill>
                <a:srgbClr val="339966"/>
              </a:solidFill>
              <a:latin typeface="Times New Roman"/>
              <a:ea typeface="宋体"/>
              <a:cs typeface="Times New Roman"/>
            </a:endParaRPr>
          </a:p>
          <a:p>
            <a:pPr algn="ctr">
              <a:spcBef>
                <a:spcPct val="0"/>
              </a:spcBef>
              <a:buNone/>
            </a:pPr>
            <a:endParaRPr lang="en-GB" altLang="zh-CN" sz="2400" b="1" dirty="0">
              <a:solidFill>
                <a:srgbClr val="339966"/>
              </a:solidFill>
              <a:ea typeface="宋体"/>
              <a:cs typeface="Times New Roman"/>
            </a:endParaRPr>
          </a:p>
          <a:p>
            <a:pPr algn="ctr">
              <a:spcBef>
                <a:spcPct val="0"/>
              </a:spcBef>
              <a:buFontTx/>
              <a:buNone/>
            </a:pPr>
            <a:endParaRPr lang="en-GB" altLang="zh-CN" sz="2000" dirty="0">
              <a:solidFill>
                <a:srgbClr val="339966"/>
              </a:solidFill>
              <a:ea typeface="宋体" panose="02010600030101010101" pitchFamily="2" charset="-122"/>
              <a:cs typeface="Times New Roman"/>
            </a:endParaRPr>
          </a:p>
        </p:txBody>
      </p:sp>
      <p:sp>
        <p:nvSpPr>
          <p:cNvPr id="3100" name="Text Box 485">
            <a:extLst>
              <a:ext uri="{FF2B5EF4-FFF2-40B4-BE49-F238E27FC236}">
                <a16:creationId xmlns:a16="http://schemas.microsoft.com/office/drawing/2014/main" id="{5F92C2B3-3B79-98F0-8565-E46E8C630754}"/>
              </a:ext>
            </a:extLst>
          </p:cNvPr>
          <p:cNvSpPr txBox="1">
            <a:spLocks noChangeArrowheads="1"/>
          </p:cNvSpPr>
          <p:nvPr/>
        </p:nvSpPr>
        <p:spPr bwMode="auto">
          <a:xfrm>
            <a:off x="8312150" y="2232025"/>
            <a:ext cx="7416800" cy="1566130"/>
          </a:xfrm>
          <a:prstGeom prst="rect">
            <a:avLst/>
          </a:prstGeom>
          <a:noFill/>
          <a:ln>
            <a:noFill/>
          </a:ln>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00"/>
              </a:spcBef>
              <a:spcAft>
                <a:spcPts val="900"/>
              </a:spcAft>
              <a:defRPr/>
            </a:pPr>
            <a:r>
              <a:rPr lang="en-GB" altLang="zh-CN" sz="2200" b="1">
                <a:solidFill>
                  <a:srgbClr val="339966"/>
                </a:solidFill>
                <a:latin typeface="Times New Roman"/>
                <a:ea typeface="宋体"/>
                <a:cs typeface="Times New Roman"/>
              </a:rPr>
              <a:t>IV. </a:t>
            </a:r>
            <a:r>
              <a:rPr lang="en-GB" sz="2200" b="1">
                <a:solidFill>
                  <a:srgbClr val="339966"/>
                </a:solidFill>
                <a:latin typeface="Times New Roman"/>
                <a:ea typeface="宋体"/>
                <a:cs typeface="Times New Roman"/>
              </a:rPr>
              <a:t>Experimental Results</a:t>
            </a:r>
            <a:endParaRPr lang="en-GB" altLang="zh-CN" sz="2200" b="1" dirty="0">
              <a:solidFill>
                <a:srgbClr val="339966"/>
              </a:solidFill>
              <a:ea typeface="宋体"/>
            </a:endParaRPr>
          </a:p>
          <a:p>
            <a:pPr>
              <a:defRPr/>
            </a:pPr>
            <a:r>
              <a:rPr lang="en-US" sz="1700" dirty="0">
                <a:solidFill>
                  <a:srgbClr val="339966"/>
                </a:solidFill>
                <a:latin typeface="Times New Roman"/>
                <a:ea typeface="宋体"/>
                <a:cs typeface="Times New Roman"/>
              </a:rPr>
              <a:t>MATLAB allows accurate simulation and visualization.</a:t>
            </a:r>
            <a:endParaRPr lang="en-US" dirty="0">
              <a:cs typeface="Times New Roman" panose="02020603050405020304" pitchFamily="18" charset="0"/>
            </a:endParaRPr>
          </a:p>
          <a:p>
            <a:pPr>
              <a:defRPr/>
            </a:pPr>
            <a:r>
              <a:rPr lang="en-US" sz="1700">
                <a:solidFill>
                  <a:srgbClr val="339966"/>
                </a:solidFill>
                <a:latin typeface="Times New Roman"/>
                <a:ea typeface="宋体"/>
                <a:cs typeface="Times New Roman"/>
              </a:rPr>
              <a:t>Positive: Easy testing without hardware cost.</a:t>
            </a:r>
            <a:endParaRPr lang="en-US">
              <a:cs typeface="Times New Roman" panose="02020603050405020304" pitchFamily="18" charset="0"/>
            </a:endParaRPr>
          </a:p>
          <a:p>
            <a:pPr>
              <a:defRPr/>
            </a:pPr>
            <a:r>
              <a:rPr lang="en-US" sz="1700">
                <a:solidFill>
                  <a:srgbClr val="339966"/>
                </a:solidFill>
                <a:latin typeface="Times New Roman"/>
                <a:ea typeface="宋体" panose="02010600030101010101" pitchFamily="2" charset="-122"/>
                <a:cs typeface="Times New Roman"/>
              </a:rPr>
              <a:t>Negative: Simulation may not include real-world uncertainties</a:t>
            </a:r>
            <a:endParaRPr lang="en-US">
              <a:cs typeface="Times New Roman" panose="02020603050405020304" pitchFamily="18" charset="0"/>
            </a:endParaRPr>
          </a:p>
          <a:p>
            <a:pPr algn="just">
              <a:defRPr/>
            </a:pPr>
            <a:endParaRPr lang="en-US" altLang="zh-CN" sz="1700" dirty="0">
              <a:solidFill>
                <a:srgbClr val="339966"/>
              </a:solidFill>
              <a:latin typeface="Times New Roman"/>
              <a:ea typeface="宋体"/>
              <a:cs typeface="Times New Roman"/>
            </a:endParaRPr>
          </a:p>
        </p:txBody>
      </p:sp>
      <p:sp>
        <p:nvSpPr>
          <p:cNvPr id="3102" name="Text Box 7273">
            <a:extLst>
              <a:ext uri="{FF2B5EF4-FFF2-40B4-BE49-F238E27FC236}">
                <a16:creationId xmlns:a16="http://schemas.microsoft.com/office/drawing/2014/main" id="{B6EF8C32-5415-DEC4-0252-C54CC317E11C}"/>
              </a:ext>
            </a:extLst>
          </p:cNvPr>
          <p:cNvSpPr txBox="1">
            <a:spLocks noChangeArrowheads="1"/>
          </p:cNvSpPr>
          <p:nvPr/>
        </p:nvSpPr>
        <p:spPr bwMode="auto">
          <a:xfrm>
            <a:off x="482600" y="4824413"/>
            <a:ext cx="7469188" cy="3274290"/>
          </a:xfrm>
          <a:prstGeom prst="rect">
            <a:avLst/>
          </a:prstGeom>
          <a:noFill/>
          <a:ln>
            <a:noFill/>
          </a:ln>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defRPr/>
            </a:pPr>
            <a:r>
              <a:rPr lang="en-GB" altLang="zh-CN" sz="2200" b="1" dirty="0">
                <a:solidFill>
                  <a:srgbClr val="339966"/>
                </a:solidFill>
                <a:latin typeface="Times New Roman"/>
                <a:ea typeface="宋体"/>
                <a:cs typeface="Times New Roman"/>
              </a:rPr>
              <a:t>I. </a:t>
            </a:r>
            <a:r>
              <a:rPr lang="en-GB" altLang="zh-CN" sz="2200" b="1" dirty="0" err="1">
                <a:solidFill>
                  <a:srgbClr val="339966"/>
                </a:solidFill>
                <a:latin typeface="Times New Roman"/>
                <a:ea typeface="宋体"/>
                <a:cs typeface="Times New Roman"/>
              </a:rPr>
              <a:t>Introduction</a:t>
            </a:r>
            <a:r>
              <a:rPr lang="en-GB" altLang="zh-CN" sz="2200" b="1" dirty="0">
                <a:solidFill>
                  <a:srgbClr val="339966"/>
                </a:solidFill>
                <a:latin typeface="Times New Roman"/>
                <a:ea typeface="宋体"/>
                <a:cs typeface="Times New Roman"/>
              </a:rPr>
              <a:t> (22 </a:t>
            </a:r>
            <a:r>
              <a:rPr lang="en-GB" altLang="zh-CN" sz="2200" b="1" dirty="0" err="1">
                <a:solidFill>
                  <a:srgbClr val="339966"/>
                </a:solidFill>
                <a:latin typeface="Times New Roman"/>
                <a:ea typeface="宋体"/>
                <a:cs typeface="Times New Roman"/>
              </a:rPr>
              <a:t>point</a:t>
            </a:r>
            <a:r>
              <a:rPr lang="en-GB" altLang="zh-CN" sz="2200" b="1" dirty="0">
                <a:solidFill>
                  <a:srgbClr val="339966"/>
                </a:solidFill>
                <a:latin typeface="Times New Roman"/>
                <a:ea typeface="宋体"/>
                <a:cs typeface="Times New Roman"/>
              </a:rPr>
              <a:t> </a:t>
            </a:r>
            <a:r>
              <a:rPr lang="en-GB" altLang="zh-CN" sz="2200" b="1" dirty="0" err="1">
                <a:solidFill>
                  <a:srgbClr val="339966"/>
                </a:solidFill>
                <a:latin typeface="Times New Roman"/>
                <a:ea typeface="宋体"/>
                <a:cs typeface="Times New Roman"/>
              </a:rPr>
              <a:t>font</a:t>
            </a:r>
            <a:r>
              <a:rPr lang="en-GB" altLang="zh-CN" sz="2200" b="1" dirty="0">
                <a:solidFill>
                  <a:srgbClr val="339966"/>
                </a:solidFill>
                <a:latin typeface="Times New Roman"/>
                <a:ea typeface="宋体"/>
                <a:cs typeface="Times New Roman"/>
              </a:rPr>
              <a:t>, </a:t>
            </a:r>
            <a:r>
              <a:rPr lang="en-GB" altLang="zh-CN" sz="2200" b="1" dirty="0" err="1">
                <a:solidFill>
                  <a:srgbClr val="339966"/>
                </a:solidFill>
                <a:latin typeface="Times New Roman"/>
                <a:ea typeface="宋体"/>
                <a:cs typeface="Times New Roman"/>
              </a:rPr>
              <a:t>bold</a:t>
            </a:r>
            <a:r>
              <a:rPr lang="en-GB" altLang="zh-CN" sz="2200" b="1" dirty="0">
                <a:solidFill>
                  <a:srgbClr val="339966"/>
                </a:solidFill>
                <a:latin typeface="Times New Roman"/>
                <a:ea typeface="宋体"/>
                <a:cs typeface="Times New Roman"/>
              </a:rPr>
              <a:t> </a:t>
            </a:r>
            <a:r>
              <a:rPr lang="en-GB" altLang="zh-CN" sz="2200" b="1" dirty="0" err="1">
                <a:solidFill>
                  <a:srgbClr val="339966"/>
                </a:solidFill>
                <a:latin typeface="Times New Roman"/>
                <a:ea typeface="宋体"/>
                <a:cs typeface="Times New Roman"/>
              </a:rPr>
              <a:t>letters</a:t>
            </a:r>
            <a:r>
              <a:rPr lang="en-GB" altLang="zh-CN" sz="2200" b="1" dirty="0">
                <a:solidFill>
                  <a:srgbClr val="339966"/>
                </a:solidFill>
                <a:latin typeface="Times New Roman"/>
                <a:ea typeface="宋体"/>
                <a:cs typeface="Times New Roman"/>
              </a:rPr>
              <a:t> )</a:t>
            </a:r>
          </a:p>
          <a:p>
            <a:pPr algn="just">
              <a:defRPr/>
            </a:pPr>
            <a:r>
              <a:rPr lang="en-US" sz="1800" dirty="0">
                <a:solidFill>
                  <a:srgbClr val="339966"/>
                </a:solidFill>
                <a:latin typeface="Times New Roman"/>
                <a:ea typeface="宋体"/>
                <a:cs typeface="Times New Roman"/>
              </a:rPr>
              <a:t>Farming is important for food. But old ways of farming waste water and it is hard to find small problems in big fields. We need Smart Farming which uses tech to help plants in the right spots. The best tool for this is the Drone.</a:t>
            </a:r>
            <a:endParaRPr lang="en-US" sz="1800" dirty="0">
              <a:ea typeface="宋体"/>
              <a:cs typeface="Times New Roman"/>
            </a:endParaRPr>
          </a:p>
          <a:p>
            <a:pPr algn="just">
              <a:defRPr/>
            </a:pPr>
            <a:r>
              <a:rPr lang="en-US" sz="1800">
                <a:solidFill>
                  <a:srgbClr val="339966"/>
                </a:solidFill>
                <a:latin typeface="Times New Roman"/>
                <a:ea typeface="宋体"/>
                <a:cs typeface="Times New Roman"/>
              </a:rPr>
              <a:t>Drones can fly high and use special cameras to take pictures. These pictures help us know if plants are sick. We use NDVI for this.</a:t>
            </a:r>
            <a:endParaRPr lang="en-GB" sz="1800">
              <a:latin typeface="Times New Roman"/>
              <a:ea typeface="宋体"/>
              <a:cs typeface="Times New Roman"/>
            </a:endParaRPr>
          </a:p>
          <a:p>
            <a:pPr algn="just">
              <a:defRPr/>
            </a:pPr>
            <a:r>
              <a:rPr lang="en-US" sz="1800">
                <a:solidFill>
                  <a:srgbClr val="339966"/>
                </a:solidFill>
                <a:latin typeface="Times New Roman"/>
                <a:ea typeface="宋体"/>
                <a:cs typeface="Times New Roman"/>
              </a:rPr>
              <a:t>Our work is about Drone Collaboration (drones working together):</a:t>
            </a:r>
            <a:endParaRPr lang="en-GB" sz="1800">
              <a:ea typeface="宋体"/>
              <a:cs typeface="Times New Roman"/>
            </a:endParaRPr>
          </a:p>
          <a:p>
            <a:pPr algn="just">
              <a:defRPr/>
            </a:pPr>
            <a:r>
              <a:rPr lang="en-US" sz="1800">
                <a:solidFill>
                  <a:srgbClr val="339966"/>
                </a:solidFill>
                <a:latin typeface="Times New Roman"/>
                <a:ea typeface="宋体"/>
                <a:cs typeface="Times New Roman"/>
              </a:rPr>
              <a:t>⦁    Drone 1 (The Checker): Finds the bad spots using NDVI.</a:t>
            </a:r>
            <a:endParaRPr lang="en-US" sz="1800">
              <a:ea typeface="宋体"/>
              <a:cs typeface="Times New Roman"/>
            </a:endParaRPr>
          </a:p>
          <a:p>
            <a:pPr algn="just">
              <a:defRPr/>
            </a:pPr>
            <a:r>
              <a:rPr lang="en-US" sz="1800">
                <a:solidFill>
                  <a:srgbClr val="339966"/>
                </a:solidFill>
                <a:latin typeface="Times New Roman"/>
                <a:ea typeface="宋体"/>
                <a:cs typeface="Times New Roman"/>
              </a:rPr>
              <a:t>⦁    Drone 2 (The Helper): Flies right to the bad spot to spray the medicine.</a:t>
            </a:r>
            <a:endParaRPr lang="en-US" sz="1800">
              <a:latin typeface="Times New Roman"/>
              <a:ea typeface="宋体"/>
              <a:cs typeface="Times New Roman"/>
            </a:endParaRPr>
          </a:p>
          <a:p>
            <a:pPr algn="just">
              <a:defRPr/>
            </a:pPr>
            <a:r>
              <a:rPr lang="en-US" sz="1800">
                <a:solidFill>
                  <a:srgbClr val="339966"/>
                </a:solidFill>
                <a:latin typeface="Times New Roman"/>
                <a:ea typeface="宋体"/>
                <a:cs typeface="Times New Roman"/>
              </a:rPr>
              <a:t>Our main goal is to build a test in MATLAB to show how fast it is.</a:t>
            </a:r>
          </a:p>
          <a:p>
            <a:pPr algn="dist">
              <a:defRPr/>
            </a:pPr>
            <a:endParaRPr lang="en-US" altLang="zh-CN" sz="1700" dirty="0">
              <a:solidFill>
                <a:srgbClr val="339966"/>
              </a:solidFill>
              <a:ea typeface="宋体" panose="02010600030101010101" pitchFamily="2" charset="-122"/>
              <a:cs typeface="Times New Roman"/>
            </a:endParaRPr>
          </a:p>
        </p:txBody>
      </p:sp>
      <p:sp>
        <p:nvSpPr>
          <p:cNvPr id="3104" name="Text Box 7483">
            <a:extLst>
              <a:ext uri="{FF2B5EF4-FFF2-40B4-BE49-F238E27FC236}">
                <a16:creationId xmlns:a16="http://schemas.microsoft.com/office/drawing/2014/main" id="{38A0CBA9-FE37-07A0-50C7-81C2E00911EF}"/>
              </a:ext>
            </a:extLst>
          </p:cNvPr>
          <p:cNvSpPr txBox="1">
            <a:spLocks noChangeArrowheads="1"/>
          </p:cNvSpPr>
          <p:nvPr/>
        </p:nvSpPr>
        <p:spPr bwMode="auto">
          <a:xfrm>
            <a:off x="500063" y="2238375"/>
            <a:ext cx="7469187" cy="2697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a:solidFill>
                  <a:srgbClr val="339966"/>
                </a:solidFill>
                <a:latin typeface="Times New Roman"/>
                <a:ea typeface="宋体"/>
                <a:cs typeface="Times New Roman"/>
              </a:rPr>
              <a:t>Abstract  </a:t>
            </a:r>
          </a:p>
          <a:p>
            <a:pPr algn="dist"/>
            <a:r>
              <a:rPr lang="en-AU" sz="1700" dirty="0">
                <a:solidFill>
                  <a:srgbClr val="339966"/>
                </a:solidFill>
                <a:latin typeface="Times New Roman"/>
                <a:ea typeface="宋体"/>
                <a:cs typeface="Times New Roman"/>
              </a:rPr>
              <a:t>To address water waste in farming, this project uses a two-drone system simulated in MATLAB. The first drone identifies dry areas using </a:t>
            </a:r>
            <a:r>
              <a:rPr lang="en-AU" sz="1700" b="1" dirty="0">
                <a:solidFill>
                  <a:srgbClr val="339966"/>
                </a:solidFill>
                <a:latin typeface="Times New Roman"/>
                <a:ea typeface="宋体"/>
                <a:cs typeface="Times New Roman"/>
              </a:rPr>
              <a:t>NDVI</a:t>
            </a:r>
            <a:r>
              <a:rPr lang="en-AU" sz="1700" dirty="0">
                <a:solidFill>
                  <a:srgbClr val="339966"/>
                </a:solidFill>
                <a:latin typeface="Times New Roman"/>
                <a:ea typeface="宋体"/>
                <a:cs typeface="Times New Roman"/>
              </a:rPr>
              <a:t> (plant health) sensors and sends the location to a second drone via </a:t>
            </a:r>
            <a:r>
              <a:rPr lang="en-AU" sz="1700" b="1" dirty="0">
                <a:solidFill>
                  <a:srgbClr val="339966"/>
                </a:solidFill>
                <a:latin typeface="Times New Roman"/>
                <a:ea typeface="宋体"/>
                <a:cs typeface="Times New Roman"/>
              </a:rPr>
              <a:t>MQTT</a:t>
            </a:r>
            <a:r>
              <a:rPr lang="en-AU" sz="1700" dirty="0">
                <a:solidFill>
                  <a:srgbClr val="339966"/>
                </a:solidFill>
                <a:latin typeface="Times New Roman"/>
                <a:ea typeface="宋体"/>
                <a:cs typeface="Times New Roman"/>
              </a:rPr>
              <a:t> communication. Results show a very fast response time of </a:t>
            </a:r>
            <a:r>
              <a:rPr lang="en-AU" sz="1700" b="1" dirty="0">
                <a:solidFill>
                  <a:srgbClr val="339966"/>
                </a:solidFill>
                <a:latin typeface="Times New Roman"/>
                <a:ea typeface="宋体"/>
                <a:cs typeface="Times New Roman"/>
              </a:rPr>
              <a:t>61.33 </a:t>
            </a:r>
            <a:r>
              <a:rPr lang="en-AU" sz="1700" b="1" dirty="0" err="1">
                <a:solidFill>
                  <a:srgbClr val="339966"/>
                </a:solidFill>
                <a:latin typeface="Times New Roman"/>
                <a:ea typeface="宋体"/>
                <a:cs typeface="Times New Roman"/>
              </a:rPr>
              <a:t>ms</a:t>
            </a:r>
            <a:r>
              <a:rPr lang="en-AU" sz="1700" dirty="0">
                <a:solidFill>
                  <a:srgbClr val="339966"/>
                </a:solidFill>
                <a:latin typeface="Times New Roman"/>
                <a:ea typeface="宋体"/>
                <a:cs typeface="Times New Roman"/>
              </a:rPr>
              <a:t>, proving the system is an efficient tool.</a:t>
            </a:r>
            <a:endParaRPr lang="en-AU" sz="1700" dirty="0">
              <a:solidFill>
                <a:srgbClr val="339966"/>
              </a:solidFill>
              <a:ea typeface="宋体"/>
              <a:cs typeface="Times New Roman"/>
            </a:endParaRPr>
          </a:p>
          <a:p>
            <a:pPr>
              <a:spcBef>
                <a:spcPts val="1200"/>
              </a:spcBef>
              <a:spcAft>
                <a:spcPts val="850"/>
              </a:spcAft>
            </a:pPr>
            <a:r>
              <a:rPr lang="en-GB" altLang="zh-CN" sz="2200" b="1">
                <a:solidFill>
                  <a:srgbClr val="339966"/>
                </a:solidFill>
                <a:latin typeface="Times New Roman"/>
                <a:ea typeface="宋体"/>
                <a:cs typeface="Times New Roman"/>
              </a:rPr>
              <a:t>Keywords </a:t>
            </a:r>
          </a:p>
          <a:p>
            <a:r>
              <a:rPr lang="en-AU" sz="1700">
                <a:solidFill>
                  <a:srgbClr val="339966"/>
                </a:solidFill>
                <a:latin typeface="Times New Roman"/>
                <a:ea typeface="宋体"/>
                <a:cs typeface="Times New Roman"/>
              </a:rPr>
              <a:t>UAV, Drone Collaboration, NDVI, MQTT, Smart Farming, Agricultural</a:t>
            </a:r>
            <a:endParaRPr lang="en-AU" sz="1700">
              <a:solidFill>
                <a:srgbClr val="339966"/>
              </a:solidFill>
              <a:ea typeface="宋体"/>
              <a:cs typeface="Times New Roman"/>
            </a:endParaRPr>
          </a:p>
          <a:p>
            <a:r>
              <a:rPr lang="en-AU" altLang="zh-CN" sz="1700" dirty="0">
                <a:solidFill>
                  <a:srgbClr val="339966"/>
                </a:solidFill>
                <a:latin typeface="Times New Roman"/>
                <a:ea typeface="宋体"/>
                <a:cs typeface="Times New Roman"/>
              </a:rPr>
              <a:t>  </a:t>
            </a:r>
            <a:endParaRPr lang="en-GB" altLang="zh-CN" sz="1700">
              <a:solidFill>
                <a:srgbClr val="339966"/>
              </a:solidFill>
              <a:latin typeface="Times New Roman"/>
              <a:ea typeface="宋体"/>
              <a:cs typeface="Times New Roman"/>
            </a:endParaRPr>
          </a:p>
        </p:txBody>
      </p:sp>
      <p:sp>
        <p:nvSpPr>
          <p:cNvPr id="3105" name="Text Box 7485">
            <a:extLst>
              <a:ext uri="{FF2B5EF4-FFF2-40B4-BE49-F238E27FC236}">
                <a16:creationId xmlns:a16="http://schemas.microsoft.com/office/drawing/2014/main" id="{051EE945-45D7-7BF0-AC10-A5E2AF0B1AF3}"/>
              </a:ext>
            </a:extLst>
          </p:cNvPr>
          <p:cNvSpPr txBox="1">
            <a:spLocks noChangeArrowheads="1"/>
          </p:cNvSpPr>
          <p:nvPr/>
        </p:nvSpPr>
        <p:spPr bwMode="auto">
          <a:xfrm>
            <a:off x="501650" y="13249275"/>
            <a:ext cx="7451725" cy="1304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a:solidFill>
                  <a:srgbClr val="339966"/>
                </a:solidFill>
                <a:latin typeface="Times New Roman"/>
                <a:ea typeface="宋体"/>
                <a:cs typeface="Times New Roman"/>
              </a:rPr>
              <a:t>III. </a:t>
            </a:r>
            <a:r>
              <a:rPr lang="en-GB" sz="2200" b="1">
                <a:solidFill>
                  <a:srgbClr val="339966"/>
                </a:solidFill>
                <a:latin typeface="Times New Roman"/>
                <a:ea typeface="宋体"/>
                <a:cs typeface="Times New Roman"/>
              </a:rPr>
              <a:t>Proposed Methodology</a:t>
            </a:r>
            <a:endParaRPr lang="en-GB" altLang="zh-CN" sz="1700" b="1">
              <a:solidFill>
                <a:srgbClr val="339966"/>
              </a:solidFill>
              <a:ea typeface="宋体"/>
            </a:endParaRPr>
          </a:p>
          <a:p>
            <a:pPr algn="dist"/>
            <a:r>
              <a:rPr lang="en-US" sz="1700" dirty="0">
                <a:solidFill>
                  <a:srgbClr val="339966"/>
                </a:solidFill>
                <a:latin typeface="Times New Roman"/>
                <a:ea typeface="宋体"/>
                <a:cs typeface="Times New Roman"/>
              </a:rPr>
              <a:t>The methodology is divided into clear steps to ensure system reliability.</a:t>
            </a:r>
            <a:endParaRPr lang="en-US" dirty="0">
              <a:latin typeface="Times New Roman"/>
              <a:ea typeface="宋体"/>
              <a:cs typeface="Times New Roman"/>
            </a:endParaRPr>
          </a:p>
          <a:p>
            <a:pPr algn="dist"/>
            <a:r>
              <a:rPr lang="en-US" sz="1700">
                <a:solidFill>
                  <a:srgbClr val="339966"/>
                </a:solidFill>
                <a:latin typeface="Times New Roman"/>
                <a:ea typeface="宋体"/>
                <a:cs typeface="Times New Roman"/>
              </a:rPr>
              <a:t>Positivity</a:t>
            </a:r>
            <a:r>
              <a:rPr lang="en-US" sz="1700" dirty="0">
                <a:solidFill>
                  <a:srgbClr val="339966"/>
                </a:solidFill>
                <a:latin typeface="Times New Roman"/>
                <a:ea typeface="宋体"/>
                <a:cs typeface="Times New Roman"/>
              </a:rPr>
              <a:t>: Step-by-step workflow reduces errors and improves accuracy.</a:t>
            </a:r>
            <a:endParaRPr lang="en-GB" dirty="0">
              <a:latin typeface="Times New Roman"/>
              <a:ea typeface="宋体"/>
              <a:cs typeface="Times New Roman"/>
            </a:endParaRPr>
          </a:p>
          <a:p>
            <a:pPr algn="dist"/>
            <a:endParaRPr lang="en-US" sz="1700" dirty="0">
              <a:solidFill>
                <a:srgbClr val="339966"/>
              </a:solidFill>
              <a:ea typeface="宋体"/>
              <a:cs typeface="Times New Roman"/>
            </a:endParaRPr>
          </a:p>
        </p:txBody>
      </p:sp>
      <p:sp>
        <p:nvSpPr>
          <p:cNvPr id="3106" name="Text Box 7486">
            <a:extLst>
              <a:ext uri="{FF2B5EF4-FFF2-40B4-BE49-F238E27FC236}">
                <a16:creationId xmlns:a16="http://schemas.microsoft.com/office/drawing/2014/main" id="{7711A46A-65CF-CF45-2BA6-319572624C9C}"/>
              </a:ext>
            </a:extLst>
          </p:cNvPr>
          <p:cNvSpPr txBox="1">
            <a:spLocks noChangeArrowheads="1"/>
          </p:cNvSpPr>
          <p:nvPr/>
        </p:nvSpPr>
        <p:spPr bwMode="auto">
          <a:xfrm>
            <a:off x="493713" y="14647273"/>
            <a:ext cx="7459662" cy="231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300"/>
              </a:spcBef>
              <a:spcAft>
                <a:spcPts val="600"/>
              </a:spcAft>
            </a:pPr>
            <a:r>
              <a:rPr lang="en-GB" altLang="zh-CN" sz="2400">
                <a:solidFill>
                  <a:srgbClr val="339966"/>
                </a:solidFill>
                <a:latin typeface="Times New Roman"/>
                <a:ea typeface="宋体"/>
                <a:cs typeface="Times New Roman"/>
              </a:rPr>
              <a:t>A.</a:t>
            </a:r>
            <a:r>
              <a:rPr lang="en-GB" altLang="zh-CN" sz="2400" b="1" dirty="0">
                <a:solidFill>
                  <a:srgbClr val="339966"/>
                </a:solidFill>
                <a:latin typeface="Times New Roman"/>
                <a:ea typeface="宋体"/>
                <a:cs typeface="Times New Roman"/>
              </a:rPr>
              <a:t> </a:t>
            </a:r>
            <a:r>
              <a:rPr lang="en-GB" sz="2400" b="1">
                <a:solidFill>
                  <a:srgbClr val="339966"/>
                </a:solidFill>
                <a:latin typeface="Times New Roman"/>
                <a:ea typeface="宋体"/>
                <a:cs typeface="Times New Roman"/>
              </a:rPr>
              <a:t>NDVI Analysis</a:t>
            </a:r>
            <a:endParaRPr lang="en-US" sz="2400" b="1">
              <a:ea typeface="宋体"/>
              <a:cs typeface="Times New Roman"/>
            </a:endParaRPr>
          </a:p>
          <a:p>
            <a:pPr algn="just"/>
            <a:r>
              <a:rPr lang="en-US" sz="2000">
                <a:solidFill>
                  <a:srgbClr val="339966"/>
                </a:solidFill>
                <a:latin typeface="Times New Roman"/>
                <a:ea typeface="宋体"/>
                <a:cs typeface="Times New Roman"/>
              </a:rPr>
              <a:t>NDVI helps detect plant stress early.</a:t>
            </a:r>
            <a:endParaRPr lang="en-US" sz="2000">
              <a:solidFill>
                <a:srgbClr val="000000"/>
              </a:solidFill>
              <a:latin typeface="Times New Roman"/>
              <a:ea typeface="宋体"/>
              <a:cs typeface="Times New Roman"/>
            </a:endParaRPr>
          </a:p>
          <a:p>
            <a:pPr algn="just"/>
            <a:r>
              <a:rPr lang="en-US" sz="2000">
                <a:solidFill>
                  <a:srgbClr val="339966"/>
                </a:solidFill>
                <a:latin typeface="Times New Roman"/>
                <a:ea typeface="宋体"/>
                <a:cs typeface="Times New Roman"/>
              </a:rPr>
              <a:t>Positive: Early detection reduces crop loss and chemical usage.</a:t>
            </a:r>
            <a:endParaRPr lang="en-US" sz="2000">
              <a:solidFill>
                <a:srgbClr val="000000"/>
              </a:solidFill>
              <a:latin typeface="Times New Roman"/>
              <a:ea typeface="宋体"/>
              <a:cs typeface="Times New Roman"/>
            </a:endParaRPr>
          </a:p>
          <a:p>
            <a:pPr algn="just"/>
            <a:r>
              <a:rPr lang="en-US" sz="2000">
                <a:solidFill>
                  <a:srgbClr val="339966"/>
                </a:solidFill>
                <a:latin typeface="Times New Roman"/>
                <a:ea typeface="宋体"/>
                <a:cs typeface="Times New Roman"/>
              </a:rPr>
              <a:t>This is important because it saves money and protects the environment.</a:t>
            </a:r>
            <a:endParaRPr lang="en-US" sz="2000">
              <a:solidFill>
                <a:srgbClr val="000000"/>
              </a:solidFill>
              <a:latin typeface="Times New Roman"/>
              <a:ea typeface="宋体"/>
              <a:cs typeface="Times New Roman"/>
            </a:endParaRPr>
          </a:p>
          <a:p>
            <a:pPr algn="just"/>
            <a:r>
              <a:rPr lang="en-US" sz="2000">
                <a:solidFill>
                  <a:srgbClr val="339966"/>
                </a:solidFill>
                <a:latin typeface="Times New Roman"/>
                <a:ea typeface="宋体"/>
                <a:cs typeface="Times New Roman"/>
              </a:rPr>
              <a:t>Negative: NDVI accuracy depends on sensor quality and lighting conditions.</a:t>
            </a:r>
            <a:endParaRPr lang="en-US">
              <a:solidFill>
                <a:srgbClr val="339966"/>
              </a:solidFill>
              <a:cs typeface="Times New Roman"/>
            </a:endParaRPr>
          </a:p>
          <a:p>
            <a:pPr algn="dist"/>
            <a:endParaRPr lang="en-US" altLang="zh-CN" sz="1700" dirty="0">
              <a:solidFill>
                <a:srgbClr val="339966"/>
              </a:solidFill>
              <a:latin typeface="Times New Roman"/>
              <a:ea typeface="宋体"/>
              <a:cs typeface="Times New Roman"/>
            </a:endParaRPr>
          </a:p>
        </p:txBody>
      </p:sp>
      <p:sp>
        <p:nvSpPr>
          <p:cNvPr id="3107" name="Text Box 7487">
            <a:extLst>
              <a:ext uri="{FF2B5EF4-FFF2-40B4-BE49-F238E27FC236}">
                <a16:creationId xmlns:a16="http://schemas.microsoft.com/office/drawing/2014/main" id="{25BDED73-3000-CE81-CBE4-A4EE3A8DD94D}"/>
              </a:ext>
            </a:extLst>
          </p:cNvPr>
          <p:cNvSpPr txBox="1">
            <a:spLocks noChangeArrowheads="1"/>
          </p:cNvSpPr>
          <p:nvPr/>
        </p:nvSpPr>
        <p:spPr bwMode="auto">
          <a:xfrm>
            <a:off x="493713" y="16958513"/>
            <a:ext cx="7459662" cy="354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300"/>
              </a:spcBef>
              <a:spcAft>
                <a:spcPts val="600"/>
              </a:spcAft>
            </a:pPr>
            <a:r>
              <a:rPr lang="en-GB" altLang="zh-CN" sz="2400">
                <a:solidFill>
                  <a:srgbClr val="339966"/>
                </a:solidFill>
                <a:latin typeface="Times New Roman"/>
                <a:ea typeface="宋体"/>
                <a:cs typeface="Times New Roman"/>
              </a:rPr>
              <a:t>B. </a:t>
            </a:r>
            <a:r>
              <a:rPr lang="en-GB" sz="2400" b="1">
                <a:solidFill>
                  <a:srgbClr val="339966"/>
                </a:solidFill>
                <a:latin typeface="Times New Roman"/>
                <a:ea typeface="宋体"/>
                <a:cs typeface="Times New Roman"/>
              </a:rPr>
              <a:t>MQTT Communication</a:t>
            </a:r>
            <a:endParaRPr lang="en-US" sz="2400" b="1">
              <a:ea typeface="宋体"/>
            </a:endParaRPr>
          </a:p>
          <a:p>
            <a:r>
              <a:rPr lang="en-GB" sz="2000">
                <a:solidFill>
                  <a:srgbClr val="339966"/>
                </a:solidFill>
                <a:latin typeface="Times New Roman"/>
                <a:ea typeface="宋体"/>
                <a:cs typeface="Times New Roman"/>
              </a:rPr>
              <a:t>MQTT enables fast message delivery.</a:t>
            </a:r>
            <a:endParaRPr lang="en-GB" sz="2000">
              <a:cs typeface="Times New Roman" panose="02020603050405020304" pitchFamily="18" charset="0"/>
            </a:endParaRPr>
          </a:p>
          <a:p>
            <a:r>
              <a:rPr lang="en-GB" sz="2000">
                <a:solidFill>
                  <a:srgbClr val="339966"/>
                </a:solidFill>
                <a:latin typeface="Times New Roman"/>
                <a:ea typeface="宋体"/>
                <a:cs typeface="Times New Roman"/>
              </a:rPr>
              <a:t>Positive: Low latency improves response time.</a:t>
            </a:r>
            <a:endParaRPr lang="en-GB" sz="2000">
              <a:cs typeface="Times New Roman" panose="02020603050405020304" pitchFamily="18" charset="0"/>
            </a:endParaRPr>
          </a:p>
          <a:p>
            <a:r>
              <a:rPr lang="en-GB" sz="2000">
                <a:solidFill>
                  <a:srgbClr val="339966"/>
                </a:solidFill>
                <a:latin typeface="Times New Roman"/>
                <a:ea typeface="宋体"/>
                <a:cs typeface="Times New Roman"/>
              </a:rPr>
              <a:t>This is critical because fast response prevents problem spread.</a:t>
            </a:r>
            <a:endParaRPr lang="en-GB" sz="2000">
              <a:cs typeface="Times New Roman" panose="02020603050405020304" pitchFamily="18" charset="0"/>
            </a:endParaRPr>
          </a:p>
          <a:p>
            <a:r>
              <a:rPr lang="en-GB" sz="2000">
                <a:solidFill>
                  <a:srgbClr val="339966"/>
                </a:solidFill>
                <a:latin typeface="Times New Roman"/>
                <a:ea typeface="宋体"/>
                <a:cs typeface="Times New Roman"/>
              </a:rPr>
              <a:t>Negative: Requires a stable communication channel.</a:t>
            </a:r>
            <a:endParaRPr lang="en-GB" sz="2000">
              <a:cs typeface="Times New Roman" panose="02020603050405020304" pitchFamily="18" charset="0"/>
            </a:endParaRPr>
          </a:p>
          <a:p>
            <a:r>
              <a:rPr lang="en-GB" sz="2000" dirty="0">
                <a:solidFill>
                  <a:srgbClr val="339966"/>
                </a:solidFill>
                <a:latin typeface="Times New Roman"/>
                <a:ea typeface="宋体"/>
                <a:cs typeface="Times New Roman"/>
              </a:rPr>
              <a:t> System Architecture</a:t>
            </a:r>
            <a:endParaRPr lang="en-GB" sz="2000">
              <a:cs typeface="Times New Roman" panose="02020603050405020304" pitchFamily="18" charset="0"/>
            </a:endParaRPr>
          </a:p>
          <a:p>
            <a:r>
              <a:rPr lang="en-GB" sz="2000">
                <a:solidFill>
                  <a:srgbClr val="339966"/>
                </a:solidFill>
                <a:latin typeface="Times New Roman"/>
                <a:ea typeface="宋体"/>
                <a:cs typeface="Times New Roman"/>
              </a:rPr>
              <a:t>The system architecture ensures smooth communication </a:t>
            </a:r>
            <a:r>
              <a:rPr lang="en-GB" sz="2000" dirty="0">
                <a:solidFill>
                  <a:srgbClr val="339966"/>
                </a:solidFill>
                <a:latin typeface="Times New Roman"/>
                <a:ea typeface="宋体"/>
                <a:cs typeface="Times New Roman"/>
              </a:rPr>
              <a:t>between    drones.</a:t>
            </a:r>
            <a:endParaRPr lang="en-GB" sz="2000" dirty="0">
              <a:cs typeface="Times New Roman" panose="02020603050405020304" pitchFamily="18" charset="0"/>
            </a:endParaRPr>
          </a:p>
          <a:p>
            <a:r>
              <a:rPr lang="en-GB" sz="2000">
                <a:solidFill>
                  <a:srgbClr val="339966"/>
                </a:solidFill>
                <a:latin typeface="Times New Roman"/>
                <a:ea typeface="宋体"/>
                <a:cs typeface="Times New Roman"/>
              </a:rPr>
              <a:t>Positive: Central broker simplifies message exchange.</a:t>
            </a:r>
            <a:endParaRPr lang="en-GB" sz="2000">
              <a:cs typeface="Times New Roman" panose="02020603050405020304" pitchFamily="18" charset="0"/>
            </a:endParaRPr>
          </a:p>
          <a:p>
            <a:r>
              <a:rPr lang="en-GB" sz="2000" dirty="0">
                <a:solidFill>
                  <a:srgbClr val="339966"/>
                </a:solidFill>
                <a:latin typeface="Times New Roman"/>
                <a:ea typeface="宋体"/>
                <a:cs typeface="Times New Roman"/>
              </a:rPr>
              <a:t>Negative: Broker failure can affect the whole system.</a:t>
            </a:r>
            <a:endParaRPr lang="en-GB" sz="2000" dirty="0">
              <a:cs typeface="Times New Roman" panose="02020603050405020304" pitchFamily="18" charset="0"/>
            </a:endParaRPr>
          </a:p>
          <a:p>
            <a:pPr algn="dist"/>
            <a:endParaRPr lang="en-GB" altLang="zh-CN" sz="1700" dirty="0">
              <a:solidFill>
                <a:srgbClr val="339966"/>
              </a:solidFill>
              <a:latin typeface="Times New Roman"/>
              <a:ea typeface="宋体"/>
              <a:cs typeface="Times New Roman"/>
            </a:endParaRPr>
          </a:p>
        </p:txBody>
      </p:sp>
      <p:sp>
        <p:nvSpPr>
          <p:cNvPr id="3108" name="Text Box 7489">
            <a:extLst>
              <a:ext uri="{FF2B5EF4-FFF2-40B4-BE49-F238E27FC236}">
                <a16:creationId xmlns:a16="http://schemas.microsoft.com/office/drawing/2014/main" id="{2683BB3B-8327-2ACA-A650-46DED793B871}"/>
              </a:ext>
            </a:extLst>
          </p:cNvPr>
          <p:cNvSpPr txBox="1">
            <a:spLocks noChangeArrowheads="1"/>
          </p:cNvSpPr>
          <p:nvPr/>
        </p:nvSpPr>
        <p:spPr bwMode="auto">
          <a:xfrm>
            <a:off x="8312150" y="20216881"/>
            <a:ext cx="7416800" cy="20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latin typeface="Times New Roman"/>
                <a:ea typeface="宋体"/>
                <a:cs typeface="Times New Roman"/>
              </a:rPr>
              <a:t>VI. </a:t>
            </a:r>
            <a:r>
              <a:rPr lang="en-GB" altLang="zh-CN" sz="2200" b="1" dirty="0" err="1">
                <a:solidFill>
                  <a:srgbClr val="339966"/>
                </a:solidFill>
                <a:latin typeface="Times New Roman"/>
                <a:ea typeface="宋体"/>
                <a:cs typeface="Times New Roman"/>
              </a:rPr>
              <a:t>Conclusion</a:t>
            </a:r>
            <a:r>
              <a:rPr lang="en-GB" altLang="zh-CN" sz="2200" b="1" dirty="0">
                <a:solidFill>
                  <a:srgbClr val="339966"/>
                </a:solidFill>
                <a:latin typeface="Times New Roman"/>
                <a:ea typeface="宋体"/>
                <a:cs typeface="Times New Roman"/>
              </a:rPr>
              <a:t>   </a:t>
            </a:r>
            <a:endParaRPr lang="en-GB" altLang="zh-CN" sz="1700" b="1" dirty="0">
              <a:solidFill>
                <a:srgbClr val="339966"/>
              </a:solidFill>
              <a:latin typeface="Times New Roman"/>
              <a:ea typeface="宋体"/>
              <a:cs typeface="Times New Roman"/>
            </a:endParaRPr>
          </a:p>
          <a:p>
            <a:r>
              <a:rPr lang="en-US" sz="1700" dirty="0">
                <a:solidFill>
                  <a:srgbClr val="339966"/>
                </a:solidFill>
                <a:latin typeface="Times New Roman"/>
                <a:ea typeface="宋体" panose="02010600030101010101" pitchFamily="2" charset="-122"/>
                <a:cs typeface="Times New Roman"/>
              </a:rPr>
              <a:t>This project clearly demonstrates that Drone-to-Drone Collaboration is a highly effective solution for agricultural surveillance. The detailed analysis of advantages and disadvantages shows that the benefits strongly outweigh the limitations. By combining NDVI, MQTT, and MATLAB simulation, the system provides a reliable foundation for future smart farming technologies.</a:t>
            </a:r>
            <a:endParaRPr lang="en-US" dirty="0"/>
          </a:p>
          <a:p>
            <a:endParaRPr lang="en-US" altLang="zh-CN" sz="1700" dirty="0">
              <a:solidFill>
                <a:srgbClr val="339966"/>
              </a:solidFill>
              <a:ea typeface="宋体" panose="02010600030101010101" pitchFamily="2" charset="-122"/>
              <a:cs typeface="Times New Roman"/>
            </a:endParaRPr>
          </a:p>
        </p:txBody>
      </p:sp>
      <p:sp>
        <p:nvSpPr>
          <p:cNvPr id="3109" name="Text Box 7512">
            <a:extLst>
              <a:ext uri="{FF2B5EF4-FFF2-40B4-BE49-F238E27FC236}">
                <a16:creationId xmlns:a16="http://schemas.microsoft.com/office/drawing/2014/main" id="{69F6410F-9B4C-21E4-5671-E08C2F84B7A0}"/>
              </a:ext>
            </a:extLst>
          </p:cNvPr>
          <p:cNvSpPr txBox="1">
            <a:spLocks noChangeArrowheads="1"/>
          </p:cNvSpPr>
          <p:nvPr/>
        </p:nvSpPr>
        <p:spPr bwMode="auto">
          <a:xfrm>
            <a:off x="8312150" y="13249275"/>
            <a:ext cx="7416800" cy="227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a:solidFill>
                  <a:srgbClr val="339966"/>
                </a:solidFill>
                <a:latin typeface="Times New Roman"/>
                <a:ea typeface="宋体"/>
                <a:cs typeface="Times New Roman"/>
              </a:rPr>
              <a:t>V. </a:t>
            </a:r>
            <a:r>
              <a:rPr lang="en-GB" sz="2200" b="1">
                <a:solidFill>
                  <a:srgbClr val="339966"/>
                </a:solidFill>
                <a:latin typeface="Times New Roman"/>
                <a:ea typeface="宋体"/>
                <a:cs typeface="Times New Roman"/>
              </a:rPr>
              <a:t>Energy Efficiency</a:t>
            </a:r>
            <a:endParaRPr lang="en-US" b="1">
              <a:ea typeface="宋体"/>
            </a:endParaRPr>
          </a:p>
          <a:p>
            <a:endParaRPr lang="en-US" altLang="zh-CN" sz="1700">
              <a:solidFill>
                <a:srgbClr val="339966"/>
              </a:solidFill>
              <a:ea typeface="宋体" panose="02010600030101010101" pitchFamily="2" charset="-122"/>
              <a:cs typeface="Times New Roman" panose="02020603050405020304" pitchFamily="18" charset="0"/>
            </a:endParaRPr>
          </a:p>
          <a:p>
            <a:r>
              <a:rPr lang="en-US" sz="2000">
                <a:solidFill>
                  <a:srgbClr val="339966"/>
                </a:solidFill>
                <a:latin typeface="Times New Roman"/>
                <a:ea typeface="宋体"/>
                <a:cs typeface="Times New Roman"/>
              </a:rPr>
              <a:t>The flight distance was 72.111 meters.</a:t>
            </a:r>
          </a:p>
          <a:p>
            <a:endParaRPr lang="en-US" sz="2000" dirty="0">
              <a:solidFill>
                <a:srgbClr val="339966"/>
              </a:solidFill>
              <a:latin typeface="Times New Roman"/>
              <a:ea typeface="宋体"/>
              <a:cs typeface="Times New Roman"/>
            </a:endParaRPr>
          </a:p>
          <a:p>
            <a:r>
              <a:rPr lang="en-US" sz="2000">
                <a:solidFill>
                  <a:srgbClr val="339966"/>
                </a:solidFill>
                <a:latin typeface="Times New Roman"/>
                <a:ea typeface="宋体"/>
                <a:cs typeface="Times New Roman"/>
              </a:rPr>
              <a:t>Positive: Shorter distance saves battery power.</a:t>
            </a:r>
            <a:endParaRPr lang="en-US" sz="2000">
              <a:latin typeface="Times New Roman"/>
              <a:ea typeface="宋体"/>
              <a:cs typeface="Times New Roman"/>
            </a:endParaRPr>
          </a:p>
          <a:p>
            <a:r>
              <a:rPr lang="en-US" sz="2000">
                <a:solidFill>
                  <a:srgbClr val="339966"/>
                </a:solidFill>
                <a:latin typeface="Times New Roman"/>
                <a:ea typeface="宋体"/>
                <a:cs typeface="Times New Roman"/>
              </a:rPr>
              <a:t>Negative: Energy savings depend on path optimization.</a:t>
            </a:r>
            <a:endParaRPr lang="en-US" sz="2000">
              <a:latin typeface="Times New Roman"/>
              <a:ea typeface="宋体"/>
              <a:cs typeface="Times New Roman"/>
            </a:endParaRPr>
          </a:p>
          <a:p>
            <a:endParaRPr lang="en-US" altLang="zh-CN" sz="1700" dirty="0">
              <a:solidFill>
                <a:srgbClr val="339966"/>
              </a:solidFill>
              <a:ea typeface="宋体" panose="02010600030101010101" pitchFamily="2" charset="-122"/>
              <a:cs typeface="Times New Roman"/>
            </a:endParaRPr>
          </a:p>
        </p:txBody>
      </p:sp>
      <p:sp>
        <p:nvSpPr>
          <p:cNvPr id="3111" name="Text Box 7523">
            <a:extLst>
              <a:ext uri="{FF2B5EF4-FFF2-40B4-BE49-F238E27FC236}">
                <a16:creationId xmlns:a16="http://schemas.microsoft.com/office/drawing/2014/main" id="{768C1606-B778-69F1-6350-09F7B29A5B2F}"/>
              </a:ext>
            </a:extLst>
          </p:cNvPr>
          <p:cNvSpPr txBox="1">
            <a:spLocks noChangeArrowheads="1"/>
          </p:cNvSpPr>
          <p:nvPr/>
        </p:nvSpPr>
        <p:spPr bwMode="auto">
          <a:xfrm>
            <a:off x="8364538" y="22312594"/>
            <a:ext cx="7308850" cy="1789268"/>
          </a:xfrm>
          <a:prstGeom prst="rect">
            <a:avLst/>
          </a:prstGeom>
          <a:noFill/>
          <a:ln>
            <a:noFill/>
          </a:ln>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defRPr/>
            </a:pPr>
            <a:r>
              <a:rPr lang="en-GB" altLang="zh-CN" sz="1400">
                <a:solidFill>
                  <a:srgbClr val="339966"/>
                </a:solidFill>
                <a:latin typeface="Times New Roman"/>
                <a:ea typeface="宋体"/>
                <a:cs typeface="Times New Roman"/>
              </a:rPr>
              <a:t>References</a:t>
            </a:r>
            <a:endParaRPr lang="en-US" altLang="zh-CN" sz="1400">
              <a:solidFill>
                <a:srgbClr val="339966"/>
              </a:solidFill>
              <a:ea typeface="宋体" panose="02010600030101010101" pitchFamily="2" charset="-122"/>
              <a:cs typeface="Times New Roman"/>
            </a:endParaRPr>
          </a:p>
          <a:p>
            <a:pPr>
              <a:defRPr/>
            </a:pPr>
            <a:r>
              <a:rPr lang="en-GB" sz="1400">
                <a:solidFill>
                  <a:srgbClr val="339966"/>
                </a:solidFill>
                <a:latin typeface="Times New Roman"/>
                <a:ea typeface="宋体"/>
                <a:cs typeface="Times New Roman"/>
              </a:rPr>
              <a:t>⦁    Implementing a Communication Network between Bases Station applied for Group of Drones</a:t>
            </a:r>
            <a:endParaRPr lang="en-GB">
              <a:solidFill>
                <a:srgbClr val="339966"/>
              </a:solidFill>
              <a:ea typeface="宋体"/>
              <a:cs typeface="Times New Roman"/>
            </a:endParaRPr>
          </a:p>
          <a:p>
            <a:pPr>
              <a:defRPr/>
            </a:pPr>
            <a:r>
              <a:rPr lang="en-GB" sz="1400" dirty="0">
                <a:solidFill>
                  <a:srgbClr val="339966"/>
                </a:solidFill>
                <a:latin typeface="Times New Roman"/>
                <a:ea typeface="宋体"/>
                <a:cs typeface="Times New Roman"/>
                <a:hlinkClick r:id="rId2">
                  <a:extLst>
                    <a:ext uri="{A12FA001-AC4F-418D-AE19-62706E023703}">
                      <ahyp:hlinkClr xmlns:ahyp="http://schemas.microsoft.com/office/drawing/2018/hyperlinkcolor" val="tx"/>
                    </a:ext>
                  </a:extLst>
                </a:hlinkClick>
              </a:rPr>
              <a:t>https://ieeexplore.ieee.org/document/9951038/</a:t>
            </a:r>
            <a:endParaRPr lang="en-GB">
              <a:solidFill>
                <a:srgbClr val="339966"/>
              </a:solidFill>
              <a:ea typeface="宋体"/>
              <a:cs typeface="Times New Roman"/>
              <a:hlinkClick r:id="rId2">
                <a:extLst>
                  <a:ext uri="{A12FA001-AC4F-418D-AE19-62706E023703}">
                    <ahyp:hlinkClr xmlns:ahyp="http://schemas.microsoft.com/office/drawing/2018/hyperlinkcolor" val="tx"/>
                  </a:ext>
                </a:extLst>
              </a:hlinkClick>
            </a:endParaRPr>
          </a:p>
          <a:p>
            <a:pPr>
              <a:defRPr/>
            </a:pPr>
            <a:r>
              <a:rPr lang="en-GB" sz="1400">
                <a:solidFill>
                  <a:srgbClr val="339966"/>
                </a:solidFill>
                <a:latin typeface="Times New Roman"/>
                <a:ea typeface="宋体"/>
                <a:cs typeface="Times New Roman"/>
              </a:rPr>
              <a:t>⦁    Drones for Normalized Difference Vegetation Index (NDVI).</a:t>
            </a:r>
          </a:p>
          <a:p>
            <a:pPr>
              <a:defRPr/>
            </a:pPr>
            <a:r>
              <a:rPr lang="en-GB" sz="1400" dirty="0">
                <a:solidFill>
                  <a:srgbClr val="339966"/>
                </a:solidFill>
                <a:latin typeface="Times New Roman"/>
                <a:ea typeface="宋体"/>
                <a:cs typeface="Times New Roman"/>
                <a:hlinkClick r:id="rId3">
                  <a:extLst>
                    <a:ext uri="{A12FA001-AC4F-418D-AE19-62706E023703}">
                      <ahyp:hlinkClr xmlns:ahyp="http://schemas.microsoft.com/office/drawing/2018/hyperlinkcolor" val="tx"/>
                    </a:ext>
                  </a:extLst>
                </a:hlinkClick>
              </a:rPr>
              <a:t>https://www.researchgate.net/publication/312497233_Drones_for_Normalized_Difference_Vegetation_Index_NDVI_to_Estimate_Crop_Health_for_Precision_Agriculture_A_Cheaper_Alternative_for_Spatial_Satellite_Sensors</a:t>
            </a:r>
            <a:endParaRPr lang="en-US">
              <a:ea typeface="宋体"/>
              <a:cs typeface="Times New Roman"/>
              <a:hlinkClick r:id="rId3">
                <a:extLst>
                  <a:ext uri="{A12FA001-AC4F-418D-AE19-62706E023703}">
                    <ahyp:hlinkClr xmlns:ahyp="http://schemas.microsoft.com/office/drawing/2018/hyperlinkcolor" val="tx"/>
                  </a:ext>
                </a:extLst>
              </a:hlinkClick>
            </a:endParaRPr>
          </a:p>
          <a:p>
            <a:pPr>
              <a:defRPr/>
            </a:pPr>
            <a:endParaRPr lang="en-GB" sz="1400" dirty="0">
              <a:solidFill>
                <a:srgbClr val="339966"/>
              </a:solidFill>
              <a:highlight>
                <a:srgbClr val="FFFF00"/>
              </a:highlight>
              <a:ea typeface="宋体"/>
              <a:cs typeface="Times New Roman"/>
            </a:endParaRPr>
          </a:p>
        </p:txBody>
      </p:sp>
      <p:sp>
        <p:nvSpPr>
          <p:cNvPr id="3112" name="Rectangle 7548">
            <a:extLst>
              <a:ext uri="{FF2B5EF4-FFF2-40B4-BE49-F238E27FC236}">
                <a16:creationId xmlns:a16="http://schemas.microsoft.com/office/drawing/2014/main" id="{F63528F3-82AA-BD53-C25F-18A5D0067164}"/>
              </a:ext>
            </a:extLst>
          </p:cNvPr>
          <p:cNvSpPr>
            <a:spLocks noChangeArrowheads="1"/>
          </p:cNvSpPr>
          <p:nvPr/>
        </p:nvSpPr>
        <p:spPr bwMode="auto">
          <a:xfrm>
            <a:off x="455613" y="215582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3" name="Rectangle 7549">
            <a:extLst>
              <a:ext uri="{FF2B5EF4-FFF2-40B4-BE49-F238E27FC236}">
                <a16:creationId xmlns:a16="http://schemas.microsoft.com/office/drawing/2014/main" id="{91793D31-442F-A2CE-FA94-DB663AAC74EE}"/>
              </a:ext>
            </a:extLst>
          </p:cNvPr>
          <p:cNvSpPr>
            <a:spLocks noChangeArrowheads="1"/>
          </p:cNvSpPr>
          <p:nvPr/>
        </p:nvSpPr>
        <p:spPr bwMode="auto">
          <a:xfrm>
            <a:off x="45243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4" name="Rectangle 7550">
            <a:extLst>
              <a:ext uri="{FF2B5EF4-FFF2-40B4-BE49-F238E27FC236}">
                <a16:creationId xmlns:a16="http://schemas.microsoft.com/office/drawing/2014/main" id="{D5BB9B7F-6E5D-90CC-B037-CB4170B09B24}"/>
              </a:ext>
            </a:extLst>
          </p:cNvPr>
          <p:cNvSpPr>
            <a:spLocks noChangeArrowheads="1"/>
          </p:cNvSpPr>
          <p:nvPr/>
        </p:nvSpPr>
        <p:spPr bwMode="auto">
          <a:xfrm>
            <a:off x="8234363" y="215582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5" name="Rectangle 7551">
            <a:extLst>
              <a:ext uri="{FF2B5EF4-FFF2-40B4-BE49-F238E27FC236}">
                <a16:creationId xmlns:a16="http://schemas.microsoft.com/office/drawing/2014/main" id="{E38E2B87-5933-E239-4E58-F1EE09487F06}"/>
              </a:ext>
            </a:extLst>
          </p:cNvPr>
          <p:cNvSpPr>
            <a:spLocks noChangeArrowheads="1"/>
          </p:cNvSpPr>
          <p:nvPr/>
        </p:nvSpPr>
        <p:spPr bwMode="auto">
          <a:xfrm>
            <a:off x="823118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7" name="Rectangle 7557">
            <a:extLst>
              <a:ext uri="{FF2B5EF4-FFF2-40B4-BE49-F238E27FC236}">
                <a16:creationId xmlns:a16="http://schemas.microsoft.com/office/drawing/2014/main" id="{23963943-F674-0948-2BB6-22D3C1C8EB84}"/>
              </a:ext>
            </a:extLst>
          </p:cNvPr>
          <p:cNvSpPr>
            <a:spLocks noChangeArrowheads="1"/>
          </p:cNvSpPr>
          <p:nvPr/>
        </p:nvSpPr>
        <p:spPr bwMode="auto">
          <a:xfrm>
            <a:off x="496850" y="19712706"/>
            <a:ext cx="7651189" cy="4099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spcBef>
                <a:spcPts val="300"/>
              </a:spcBef>
              <a:spcAft>
                <a:spcPts val="600"/>
              </a:spcAft>
              <a:buNone/>
            </a:pPr>
            <a:r>
              <a:rPr lang="en-GB" sz="2400">
                <a:solidFill>
                  <a:srgbClr val="339966"/>
                </a:solidFill>
                <a:latin typeface="Times New Roman"/>
                <a:ea typeface="宋体"/>
                <a:cs typeface="Times New Roman"/>
              </a:rPr>
              <a:t>C. </a:t>
            </a:r>
            <a:r>
              <a:rPr lang="en-GB" sz="2400" b="1">
                <a:solidFill>
                  <a:srgbClr val="339966"/>
                </a:solidFill>
                <a:latin typeface="Times New Roman"/>
                <a:ea typeface="宋体"/>
                <a:cs typeface="Times New Roman"/>
              </a:rPr>
              <a:t>MATLAB Implementation</a:t>
            </a:r>
            <a:endParaRPr lang="en-US" sz="2400">
              <a:solidFill>
                <a:srgbClr val="000000"/>
              </a:solidFill>
              <a:ea typeface="宋体" panose="02010600030101010101" pitchFamily="2" charset="-122"/>
              <a:cs typeface="Times New Roman"/>
            </a:endParaRPr>
          </a:p>
          <a:p>
            <a:pPr>
              <a:spcBef>
                <a:spcPct val="0"/>
              </a:spcBef>
              <a:buNone/>
            </a:pPr>
            <a:r>
              <a:rPr lang="en-GB" sz="2000">
                <a:solidFill>
                  <a:srgbClr val="339966"/>
                </a:solidFill>
                <a:latin typeface="Times New Roman"/>
                <a:ea typeface="宋体"/>
                <a:cs typeface="Times New Roman"/>
              </a:rPr>
              <a:t>MQTT enables fast message delivery.</a:t>
            </a:r>
            <a:endParaRPr lang="en-GB" sz="200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Positive: Low latency improves response time.</a:t>
            </a:r>
            <a:endParaRPr lang="en-GB" sz="200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This is critical because fast response prevents problem spread.</a:t>
            </a:r>
            <a:endParaRPr lang="en-GB" sz="200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Negative: Requires a stable communication channel.</a:t>
            </a:r>
            <a:endParaRPr lang="en-GB" sz="200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System Architecture</a:t>
            </a:r>
            <a:endParaRPr lang="en-GB" sz="200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The system architecture ensures smooth </a:t>
            </a:r>
            <a:r>
              <a:rPr lang="en-GB" sz="2000" dirty="0">
                <a:solidFill>
                  <a:srgbClr val="339966"/>
                </a:solidFill>
                <a:latin typeface="Times New Roman"/>
                <a:ea typeface="宋体"/>
                <a:cs typeface="Times New Roman"/>
              </a:rPr>
              <a:t>communication between    drones.</a:t>
            </a:r>
            <a:endParaRPr lang="en-GB" sz="2000" dirty="0">
              <a:solidFill>
                <a:srgbClr val="000000"/>
              </a:solidFill>
              <a:latin typeface="Times New Roman"/>
              <a:ea typeface="宋体"/>
              <a:cs typeface="Times New Roman"/>
            </a:endParaRPr>
          </a:p>
          <a:p>
            <a:pPr>
              <a:spcBef>
                <a:spcPct val="0"/>
              </a:spcBef>
              <a:buNone/>
            </a:pPr>
            <a:r>
              <a:rPr lang="en-GB" sz="2000">
                <a:solidFill>
                  <a:srgbClr val="339966"/>
                </a:solidFill>
                <a:latin typeface="Times New Roman"/>
                <a:ea typeface="宋体"/>
                <a:cs typeface="Times New Roman"/>
              </a:rPr>
              <a:t>Positive: Central broker simplifies message exchange.</a:t>
            </a:r>
            <a:endParaRPr lang="en-GB" sz="2000">
              <a:solidFill>
                <a:srgbClr val="000000"/>
              </a:solidFill>
              <a:latin typeface="Times New Roman"/>
              <a:ea typeface="宋体"/>
              <a:cs typeface="Times New Roman"/>
            </a:endParaRPr>
          </a:p>
          <a:p>
            <a:pPr>
              <a:spcBef>
                <a:spcPct val="0"/>
              </a:spcBef>
              <a:buNone/>
            </a:pPr>
            <a:r>
              <a:rPr lang="en-GB" sz="2000" dirty="0">
                <a:solidFill>
                  <a:srgbClr val="339966"/>
                </a:solidFill>
                <a:latin typeface="Times New Roman"/>
                <a:ea typeface="宋体"/>
                <a:cs typeface="Times New Roman"/>
              </a:rPr>
              <a:t>Negative: Broker failure can affect the whole system.</a:t>
            </a:r>
            <a:endParaRPr lang="en-GB" sz="2000" dirty="0">
              <a:latin typeface="Times New Roman"/>
              <a:ea typeface="宋体"/>
              <a:cs typeface="Times New Roman"/>
            </a:endParaRPr>
          </a:p>
        </p:txBody>
      </p:sp>
      <p:sp>
        <p:nvSpPr>
          <p:cNvPr id="3119" name="Rectangle 7563">
            <a:extLst>
              <a:ext uri="{FF2B5EF4-FFF2-40B4-BE49-F238E27FC236}">
                <a16:creationId xmlns:a16="http://schemas.microsoft.com/office/drawing/2014/main" id="{62E1404E-7785-FF3F-2982-0F8F5E185F9D}"/>
              </a:ext>
            </a:extLst>
          </p:cNvPr>
          <p:cNvSpPr>
            <a:spLocks noChangeArrowheads="1"/>
          </p:cNvSpPr>
          <p:nvPr/>
        </p:nvSpPr>
        <p:spPr bwMode="auto">
          <a:xfrm>
            <a:off x="9087764" y="12294359"/>
            <a:ext cx="56308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None/>
            </a:pPr>
            <a:r>
              <a:rPr lang="en-GB" altLang="zh-CN" sz="1600" err="1">
                <a:solidFill>
                  <a:srgbClr val="339966"/>
                </a:solidFill>
                <a:latin typeface="Times New Roman"/>
                <a:ea typeface="宋体"/>
                <a:cs typeface="Times New Roman"/>
              </a:rPr>
              <a:t>Fig</a:t>
            </a:r>
            <a:r>
              <a:rPr lang="en-GB" altLang="zh-CN" sz="1600">
                <a:solidFill>
                  <a:srgbClr val="339966"/>
                </a:solidFill>
                <a:latin typeface="Times New Roman"/>
                <a:ea typeface="宋体"/>
                <a:cs typeface="Times New Roman"/>
              </a:rPr>
              <a:t>. 2. </a:t>
            </a:r>
            <a:r>
              <a:rPr lang="en-GB" sz="1600" dirty="0">
                <a:solidFill>
                  <a:srgbClr val="339966"/>
                </a:solidFill>
                <a:latin typeface="Times New Roman"/>
                <a:ea typeface="宋体"/>
                <a:cs typeface="Times New Roman"/>
              </a:rPr>
              <a:t>Detection Accuracy</a:t>
            </a:r>
            <a:endParaRPr lang="en-US" dirty="0">
              <a:ea typeface="宋体"/>
            </a:endParaRPr>
          </a:p>
        </p:txBody>
      </p:sp>
      <p:sp>
        <p:nvSpPr>
          <p:cNvPr id="3120" name="Text Box 7573">
            <a:extLst>
              <a:ext uri="{FF2B5EF4-FFF2-40B4-BE49-F238E27FC236}">
                <a16:creationId xmlns:a16="http://schemas.microsoft.com/office/drawing/2014/main" id="{243E62D8-D3E4-A4BD-7877-512451CB4180}"/>
              </a:ext>
            </a:extLst>
          </p:cNvPr>
          <p:cNvSpPr txBox="1">
            <a:spLocks noChangeArrowheads="1"/>
          </p:cNvSpPr>
          <p:nvPr/>
        </p:nvSpPr>
        <p:spPr bwMode="auto">
          <a:xfrm>
            <a:off x="487363" y="8137525"/>
            <a:ext cx="7469187" cy="504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a:solidFill>
                  <a:srgbClr val="339966"/>
                </a:solidFill>
                <a:latin typeface="Times New Roman"/>
                <a:ea typeface="宋体"/>
                <a:cs typeface="Times New Roman"/>
              </a:rPr>
              <a:t>II.</a:t>
            </a:r>
            <a:r>
              <a:rPr lang="en-GB" sz="2200" dirty="0">
                <a:solidFill>
                  <a:srgbClr val="339966"/>
                </a:solidFill>
                <a:latin typeface="Times New Roman"/>
                <a:ea typeface="宋体"/>
                <a:cs typeface="Times New Roman"/>
              </a:rPr>
              <a:t> </a:t>
            </a:r>
            <a:r>
              <a:rPr lang="en-GB" sz="2200" b="1" dirty="0">
                <a:solidFill>
                  <a:srgbClr val="339966"/>
                </a:solidFill>
                <a:latin typeface="Times New Roman"/>
                <a:ea typeface="宋体"/>
                <a:cs typeface="Times New Roman"/>
              </a:rPr>
              <a:t>Motivation of the Project</a:t>
            </a:r>
            <a:endParaRPr lang="en-US" b="1" dirty="0"/>
          </a:p>
          <a:p>
            <a:r>
              <a:rPr lang="en-US" sz="2000">
                <a:solidFill>
                  <a:srgbClr val="339966"/>
                </a:solidFill>
                <a:latin typeface="Times New Roman"/>
                <a:ea typeface="宋体"/>
                <a:cs typeface="Times New Roman"/>
              </a:rPr>
              <a:t>The motivation behind this project is the need for efficient, fast, and energy-saving agricultural monitoring systems. Single-drone systems waste energy because the drone must fly over the entire field even if only a small area has a problem.</a:t>
            </a:r>
            <a:endParaRPr lang="en-US" sz="2000">
              <a:latin typeface="Times New Roman"/>
              <a:ea typeface="宋体"/>
              <a:cs typeface="Times New Roman"/>
            </a:endParaRPr>
          </a:p>
          <a:p>
            <a:r>
              <a:rPr lang="en-US" sz="2000">
                <a:solidFill>
                  <a:srgbClr val="339966"/>
                </a:solidFill>
                <a:latin typeface="Times New Roman"/>
                <a:ea typeface="宋体"/>
                <a:cs typeface="Times New Roman"/>
              </a:rPr>
              <a:t>By using collaborative drones, tasks can be divided. This reduces unnecessary movement, saves battery power, and increases system lifetime. This motivation is especially important for large farms where efficiency directly affects cost and productivity.</a:t>
            </a:r>
          </a:p>
          <a:p>
            <a:r>
              <a:rPr lang="en-US" sz="2000">
                <a:solidFill>
                  <a:srgbClr val="339966"/>
                </a:solidFill>
                <a:latin typeface="Times New Roman"/>
                <a:ea typeface="宋体"/>
                <a:cs typeface="Times New Roman"/>
              </a:rPr>
              <a:t>Traditional farming methods suffer from several disadvantages. First, manual inspection is slow and cannot cover large areas efficiently. Second, water and fertilizers are often applied to the entire field instead of specific areas, which causes waste. Third, single-drone monitoring systems suffer from long flight paths and high energy consumption.</a:t>
            </a:r>
            <a:endParaRPr lang="en-US" sz="2000">
              <a:latin typeface="Times New Roman"/>
              <a:ea typeface="宋体"/>
            </a:endParaRPr>
          </a:p>
          <a:p>
            <a:endParaRPr lang="en-US" sz="1700" dirty="0">
              <a:solidFill>
                <a:srgbClr val="339966"/>
              </a:solidFill>
              <a:ea typeface="宋体" panose="02010600030101010101" pitchFamily="2" charset="-122"/>
              <a:cs typeface="Times New Roman"/>
            </a:endParaRPr>
          </a:p>
          <a:p>
            <a:endParaRPr lang="en-US" altLang="zh-CN" sz="1700" dirty="0">
              <a:solidFill>
                <a:srgbClr val="339966"/>
              </a:solidFill>
              <a:ea typeface="宋体" panose="02010600030101010101" pitchFamily="2" charset="-122"/>
              <a:cs typeface="Times New Roman"/>
            </a:endParaRPr>
          </a:p>
        </p:txBody>
      </p:sp>
      <p:sp>
        <p:nvSpPr>
          <p:cNvPr id="3122" name="Rectangle 7576">
            <a:extLst>
              <a:ext uri="{FF2B5EF4-FFF2-40B4-BE49-F238E27FC236}">
                <a16:creationId xmlns:a16="http://schemas.microsoft.com/office/drawing/2014/main" id="{89B14403-9071-CF8D-7C4A-47DB861752CE}"/>
              </a:ext>
            </a:extLst>
          </p:cNvPr>
          <p:cNvSpPr>
            <a:spLocks noChangeArrowheads="1"/>
          </p:cNvSpPr>
          <p:nvPr/>
        </p:nvSpPr>
        <p:spPr bwMode="auto">
          <a:xfrm>
            <a:off x="9953852" y="19494500"/>
            <a:ext cx="45085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None/>
            </a:pPr>
            <a:r>
              <a:rPr lang="en-GB" altLang="zh-CN" sz="1600" dirty="0" err="1">
                <a:solidFill>
                  <a:srgbClr val="339966"/>
                </a:solidFill>
                <a:latin typeface="Times New Roman"/>
                <a:ea typeface="宋体"/>
                <a:cs typeface="Times New Roman"/>
              </a:rPr>
              <a:t>Fig</a:t>
            </a:r>
            <a:r>
              <a:rPr lang="en-GB" altLang="zh-CN" sz="1600" dirty="0">
                <a:solidFill>
                  <a:srgbClr val="339966"/>
                </a:solidFill>
                <a:latin typeface="Times New Roman"/>
                <a:ea typeface="宋体"/>
                <a:cs typeface="Times New Roman"/>
              </a:rPr>
              <a:t>. 3. Distance </a:t>
            </a:r>
            <a:r>
              <a:rPr lang="en-GB" altLang="zh-CN" sz="1600" dirty="0" err="1">
                <a:solidFill>
                  <a:srgbClr val="339966"/>
                </a:solidFill>
                <a:latin typeface="Times New Roman"/>
                <a:ea typeface="宋体"/>
                <a:cs typeface="Times New Roman"/>
              </a:rPr>
              <a:t>Traveled</a:t>
            </a:r>
          </a:p>
        </p:txBody>
      </p:sp>
      <p:sp>
        <p:nvSpPr>
          <p:cNvPr id="3126" name="Rectangle 7584">
            <a:extLst>
              <a:ext uri="{FF2B5EF4-FFF2-40B4-BE49-F238E27FC236}">
                <a16:creationId xmlns:a16="http://schemas.microsoft.com/office/drawing/2014/main" id="{8385B7DC-260D-A6C5-21FF-09BC92DF189A}"/>
              </a:ext>
            </a:extLst>
          </p:cNvPr>
          <p:cNvSpPr>
            <a:spLocks noChangeArrowheads="1"/>
          </p:cNvSpPr>
          <p:nvPr/>
        </p:nvSpPr>
        <p:spPr bwMode="auto">
          <a:xfrm>
            <a:off x="7526338" y="19188113"/>
            <a:ext cx="2873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lgn="ctr"/>
            <a:endParaRPr lang="en-US" altLang="zh-CN" sz="1700">
              <a:solidFill>
                <a:srgbClr val="339966"/>
              </a:solidFill>
              <a:ea typeface="宋体" panose="02010600030101010101" pitchFamily="2" charset="-122"/>
            </a:endParaRPr>
          </a:p>
        </p:txBody>
      </p:sp>
      <p:pic>
        <p:nvPicPr>
          <p:cNvPr id="3127" name="图片 2">
            <a:extLst>
              <a:ext uri="{FF2B5EF4-FFF2-40B4-BE49-F238E27FC236}">
                <a16:creationId xmlns:a16="http://schemas.microsoft.com/office/drawing/2014/main" id="{192CD63B-D77D-3D0C-1122-80C0F7B3D109}"/>
              </a:ext>
            </a:extLst>
          </p:cNvPr>
          <p:cNvPicPr>
            <a:picLocks noChangeAspect="1" noChangeArrowheads="1"/>
          </p:cNvPicPr>
          <p:nvPr/>
        </p:nvPicPr>
        <p:blipFill>
          <a:blip r:embed="rId4"/>
          <a:srcRect/>
          <a:stretch>
            <a:fillRect/>
          </a:stretch>
        </p:blipFill>
        <p:spPr bwMode="auto">
          <a:xfrm>
            <a:off x="8625482" y="7312905"/>
            <a:ext cx="654657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8" name="图片 1">
            <a:extLst>
              <a:ext uri="{FF2B5EF4-FFF2-40B4-BE49-F238E27FC236}">
                <a16:creationId xmlns:a16="http://schemas.microsoft.com/office/drawing/2014/main" id="{C9964303-14C5-59FC-F9B4-3BF6C7EB2AE0}"/>
              </a:ext>
            </a:extLst>
          </p:cNvPr>
          <p:cNvPicPr>
            <a:picLocks noChangeAspect="1"/>
          </p:cNvPicPr>
          <p:nvPr/>
        </p:nvPicPr>
        <p:blipFill>
          <a:blip r:embed="rId5"/>
          <a:srcRect/>
          <a:stretch>
            <a:fillRect/>
          </a:stretch>
        </p:blipFill>
        <p:spPr bwMode="auto">
          <a:xfrm>
            <a:off x="8612091" y="15570200"/>
            <a:ext cx="6699443"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ontent Placeholder 5">
            <a:extLst>
              <a:ext uri="{FF2B5EF4-FFF2-40B4-BE49-F238E27FC236}">
                <a16:creationId xmlns:a16="http://schemas.microsoft.com/office/drawing/2014/main" id="{94C6D17A-6EB5-6AD7-DB34-3C3052291448}"/>
              </a:ext>
            </a:extLst>
          </p:cNvPr>
          <p:cNvGraphicFramePr>
            <a:graphicFrameLocks noGrp="1"/>
          </p:cNvGraphicFramePr>
          <p:nvPr>
            <p:ph sz="half" idx="2"/>
            <p:extLst>
              <p:ext uri="{D42A27DB-BD31-4B8C-83A1-F6EECF244321}">
                <p14:modId xmlns:p14="http://schemas.microsoft.com/office/powerpoint/2010/main" val="3786029181"/>
              </p:ext>
            </p:extLst>
          </p:nvPr>
        </p:nvGraphicFramePr>
        <p:xfrm>
          <a:off x="8507212" y="3700246"/>
          <a:ext cx="6810374" cy="1854200"/>
        </p:xfrm>
        <a:graphic>
          <a:graphicData uri="http://schemas.openxmlformats.org/drawingml/2006/table">
            <a:tbl>
              <a:tblPr firstRow="1" bandRow="1">
                <a:tableStyleId>{5C22544A-7EE6-4342-B048-85BDC9FD1C3A}</a:tableStyleId>
              </a:tblPr>
              <a:tblGrid>
                <a:gridCol w="3405187">
                  <a:extLst>
                    <a:ext uri="{9D8B030D-6E8A-4147-A177-3AD203B41FA5}">
                      <a16:colId xmlns:a16="http://schemas.microsoft.com/office/drawing/2014/main" val="1997582208"/>
                    </a:ext>
                  </a:extLst>
                </a:gridCol>
                <a:gridCol w="3405187">
                  <a:extLst>
                    <a:ext uri="{9D8B030D-6E8A-4147-A177-3AD203B41FA5}">
                      <a16:colId xmlns:a16="http://schemas.microsoft.com/office/drawing/2014/main" val="321151286"/>
                    </a:ext>
                  </a:extLst>
                </a:gridCol>
              </a:tblGrid>
              <a:tr h="370840">
                <a:tc>
                  <a:txBody>
                    <a:bodyPr/>
                    <a:lstStyle/>
                    <a:p>
                      <a:pPr lvl="0" algn="ctr">
                        <a:lnSpc>
                          <a:spcPct val="100000"/>
                        </a:lnSpc>
                        <a:spcBef>
                          <a:spcPts val="0"/>
                        </a:spcBef>
                        <a:spcAft>
                          <a:spcPts val="0"/>
                        </a:spcAft>
                        <a:buNone/>
                      </a:pPr>
                      <a:r>
                        <a:rPr lang="en-US" sz="1700" b="1" i="0" u="none" strike="noStrike" noProof="0">
                          <a:solidFill>
                            <a:schemeClr val="tx1"/>
                          </a:solidFill>
                          <a:latin typeface="Times New Roman"/>
                        </a:rPr>
                        <a:t> Result    Parameter</a:t>
                      </a:r>
                    </a:p>
                  </a:txBody>
                  <a:tcPr/>
                </a:tc>
                <a:tc>
                  <a:txBody>
                    <a:bodyPr/>
                    <a:lstStyle/>
                    <a:p>
                      <a:pPr lvl="0" algn="ctr">
                        <a:buNone/>
                      </a:pPr>
                      <a:r>
                        <a:rPr lang="en-US" sz="1700" b="1" i="0" u="none" strike="noStrike" noProof="0">
                          <a:solidFill>
                            <a:schemeClr val="tx1"/>
                          </a:solidFill>
                          <a:latin typeface="Times New Roman"/>
                        </a:rPr>
                        <a:t>Value</a:t>
                      </a:r>
                      <a:endParaRPr lang="en-US" b="1">
                        <a:solidFill>
                          <a:schemeClr val="tx1"/>
                        </a:solidFill>
                      </a:endParaRPr>
                    </a:p>
                  </a:txBody>
                  <a:tcPr/>
                </a:tc>
                <a:extLst>
                  <a:ext uri="{0D108BD9-81ED-4DB2-BD59-A6C34878D82A}">
                    <a16:rowId xmlns:a16="http://schemas.microsoft.com/office/drawing/2014/main" val="551619205"/>
                  </a:ext>
                </a:extLst>
              </a:tr>
              <a:tr h="370840">
                <a:tc>
                  <a:txBody>
                    <a:bodyPr/>
                    <a:lstStyle/>
                    <a:p>
                      <a:pPr lvl="0" algn="ctr">
                        <a:lnSpc>
                          <a:spcPct val="100000"/>
                        </a:lnSpc>
                        <a:spcBef>
                          <a:spcPts val="0"/>
                        </a:spcBef>
                        <a:spcAft>
                          <a:spcPts val="0"/>
                        </a:spcAft>
                        <a:buNone/>
                      </a:pPr>
                      <a:r>
                        <a:rPr lang="en-US" sz="1700" b="0" i="0" u="none" strike="noStrike" noProof="0">
                          <a:solidFill>
                            <a:schemeClr val="tx1"/>
                          </a:solidFill>
                          <a:latin typeface="Times New Roman"/>
                        </a:rPr>
                        <a:t>Simulated Field Area</a:t>
                      </a:r>
                    </a:p>
                  </a:txBody>
                  <a:tcPr/>
                </a:tc>
                <a:tc>
                  <a:txBody>
                    <a:bodyPr/>
                    <a:lstStyle/>
                    <a:p>
                      <a:pPr lvl="0" algn="ctr">
                        <a:buNone/>
                      </a:pPr>
                      <a:r>
                        <a:rPr lang="en-US" sz="1700" b="0" i="0" u="none" strike="noStrike" noProof="0">
                          <a:solidFill>
                            <a:schemeClr val="tx1"/>
                          </a:solidFill>
                          <a:latin typeface="Times New Roman"/>
                        </a:rPr>
                        <a:t>100 × 100 meters </a:t>
                      </a:r>
                      <a:endParaRPr lang="en-US" b="0">
                        <a:solidFill>
                          <a:schemeClr val="tx1"/>
                        </a:solidFill>
                      </a:endParaRPr>
                    </a:p>
                  </a:txBody>
                  <a:tcPr/>
                </a:tc>
                <a:extLst>
                  <a:ext uri="{0D108BD9-81ED-4DB2-BD59-A6C34878D82A}">
                    <a16:rowId xmlns:a16="http://schemas.microsoft.com/office/drawing/2014/main" val="1354825258"/>
                  </a:ext>
                </a:extLst>
              </a:tr>
              <a:tr h="370840">
                <a:tc>
                  <a:txBody>
                    <a:bodyPr/>
                    <a:lstStyle/>
                    <a:p>
                      <a:pPr lvl="0" algn="ctr">
                        <a:lnSpc>
                          <a:spcPct val="100000"/>
                        </a:lnSpc>
                        <a:spcBef>
                          <a:spcPts val="0"/>
                        </a:spcBef>
                        <a:spcAft>
                          <a:spcPts val="0"/>
                        </a:spcAft>
                        <a:buNone/>
                      </a:pPr>
                      <a:r>
                        <a:rPr lang="en-US" sz="1700" b="0" i="0" u="none" strike="noStrike" noProof="0">
                          <a:solidFill>
                            <a:schemeClr val="tx1"/>
                          </a:solidFill>
                          <a:latin typeface="Times New Roman"/>
                        </a:rPr>
                        <a:t>Detected Spot Coordinates</a:t>
                      </a:r>
                    </a:p>
                  </a:txBody>
                  <a:tcPr/>
                </a:tc>
                <a:tc>
                  <a:txBody>
                    <a:bodyPr/>
                    <a:lstStyle/>
                    <a:p>
                      <a:pPr lvl="0" algn="ctr">
                        <a:buNone/>
                      </a:pPr>
                      <a:r>
                        <a:rPr lang="en-US" sz="1700" b="0" i="0" u="none" strike="noStrike" noProof="0">
                          <a:solidFill>
                            <a:schemeClr val="tx1"/>
                          </a:solidFill>
                          <a:latin typeface="Times New Roman"/>
                        </a:rPr>
                        <a:t>(60, 40)</a:t>
                      </a:r>
                      <a:endParaRPr lang="en-US" b="0">
                        <a:solidFill>
                          <a:schemeClr val="tx1"/>
                        </a:solidFill>
                      </a:endParaRPr>
                    </a:p>
                  </a:txBody>
                  <a:tcPr/>
                </a:tc>
                <a:extLst>
                  <a:ext uri="{0D108BD9-81ED-4DB2-BD59-A6C34878D82A}">
                    <a16:rowId xmlns:a16="http://schemas.microsoft.com/office/drawing/2014/main" val="3943865255"/>
                  </a:ext>
                </a:extLst>
              </a:tr>
              <a:tr h="370840">
                <a:tc>
                  <a:txBody>
                    <a:bodyPr/>
                    <a:lstStyle/>
                    <a:p>
                      <a:pPr lvl="0" algn="ctr">
                        <a:lnSpc>
                          <a:spcPct val="100000"/>
                        </a:lnSpc>
                        <a:spcBef>
                          <a:spcPts val="0"/>
                        </a:spcBef>
                        <a:spcAft>
                          <a:spcPts val="0"/>
                        </a:spcAft>
                        <a:buNone/>
                      </a:pPr>
                      <a:r>
                        <a:rPr lang="en-US" sz="1700" b="0" i="0" u="none" strike="noStrike" noProof="0">
                          <a:solidFill>
                            <a:schemeClr val="tx1"/>
                          </a:solidFill>
                          <a:latin typeface="Times New Roman"/>
                        </a:rPr>
                        <a:t> Communication Delay (MQTT)</a:t>
                      </a:r>
                    </a:p>
                  </a:txBody>
                  <a:tcPr/>
                </a:tc>
                <a:tc>
                  <a:txBody>
                    <a:bodyPr/>
                    <a:lstStyle/>
                    <a:p>
                      <a:pPr lvl="0" algn="ctr">
                        <a:buNone/>
                      </a:pPr>
                      <a:r>
                        <a:rPr lang="en-US" sz="1700" b="0" i="0" u="none" strike="noStrike" noProof="0" dirty="0">
                          <a:solidFill>
                            <a:schemeClr val="tx1"/>
                          </a:solidFill>
                          <a:latin typeface="Times New Roman"/>
                        </a:rPr>
                        <a:t>61.3317 </a:t>
                      </a:r>
                      <a:r>
                        <a:rPr lang="en-US" sz="1700" b="0" i="0" u="none" strike="noStrike" noProof="0" dirty="0" err="1">
                          <a:solidFill>
                            <a:schemeClr val="tx1"/>
                          </a:solidFill>
                          <a:latin typeface="Times New Roman"/>
                        </a:rPr>
                        <a:t>ms</a:t>
                      </a:r>
                      <a:endParaRPr lang="en-US" b="0">
                        <a:solidFill>
                          <a:schemeClr val="tx1"/>
                        </a:solidFill>
                      </a:endParaRPr>
                    </a:p>
                  </a:txBody>
                  <a:tcPr/>
                </a:tc>
                <a:extLst>
                  <a:ext uri="{0D108BD9-81ED-4DB2-BD59-A6C34878D82A}">
                    <a16:rowId xmlns:a16="http://schemas.microsoft.com/office/drawing/2014/main" val="710850023"/>
                  </a:ext>
                </a:extLst>
              </a:tr>
              <a:tr h="370840">
                <a:tc>
                  <a:txBody>
                    <a:bodyPr/>
                    <a:lstStyle/>
                    <a:p>
                      <a:pPr lvl="0" algn="ctr">
                        <a:lnSpc>
                          <a:spcPct val="100000"/>
                        </a:lnSpc>
                        <a:spcBef>
                          <a:spcPts val="0"/>
                        </a:spcBef>
                        <a:spcAft>
                          <a:spcPts val="0"/>
                        </a:spcAft>
                        <a:buNone/>
                      </a:pPr>
                      <a:r>
                        <a:rPr lang="en-US" sz="1700" b="0" i="0" u="none" strike="noStrike" noProof="0">
                          <a:solidFill>
                            <a:schemeClr val="tx1"/>
                          </a:solidFill>
                          <a:latin typeface="Times New Roman"/>
                        </a:rPr>
                        <a:t> Flight Distance (Drone 2)</a:t>
                      </a:r>
                    </a:p>
                  </a:txBody>
                  <a:tcPr/>
                </a:tc>
                <a:tc>
                  <a:txBody>
                    <a:bodyPr/>
                    <a:lstStyle/>
                    <a:p>
                      <a:pPr lvl="0" algn="ctr">
                        <a:buNone/>
                      </a:pPr>
                      <a:r>
                        <a:rPr lang="en-US" sz="1700" b="0" i="0" u="none" strike="noStrike" noProof="0">
                          <a:solidFill>
                            <a:schemeClr val="tx1"/>
                          </a:solidFill>
                          <a:latin typeface="Times New Roman"/>
                        </a:rPr>
                        <a:t>72.111 meters</a:t>
                      </a:r>
                      <a:endParaRPr lang="en-US" b="0">
                        <a:solidFill>
                          <a:schemeClr val="tx1"/>
                        </a:solidFill>
                      </a:endParaRPr>
                    </a:p>
                  </a:txBody>
                  <a:tcPr/>
                </a:tc>
                <a:extLst>
                  <a:ext uri="{0D108BD9-81ED-4DB2-BD59-A6C34878D82A}">
                    <a16:rowId xmlns:a16="http://schemas.microsoft.com/office/drawing/2014/main" val="765867457"/>
                  </a:ext>
                </a:extLst>
              </a:tr>
            </a:tbl>
          </a:graphicData>
        </a:graphic>
      </p:graphicFrame>
      <p:sp>
        <p:nvSpPr>
          <p:cNvPr id="7" name="Rectangle 7563">
            <a:extLst>
              <a:ext uri="{FF2B5EF4-FFF2-40B4-BE49-F238E27FC236}">
                <a16:creationId xmlns:a16="http://schemas.microsoft.com/office/drawing/2014/main" id="{93FE1EFC-0FE0-DD42-35F0-C3B62E1F1F45}"/>
              </a:ext>
            </a:extLst>
          </p:cNvPr>
          <p:cNvSpPr>
            <a:spLocks noChangeArrowheads="1"/>
          </p:cNvSpPr>
          <p:nvPr/>
        </p:nvSpPr>
        <p:spPr bwMode="auto">
          <a:xfrm>
            <a:off x="8827550" y="5557110"/>
            <a:ext cx="56308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None/>
            </a:pPr>
            <a:r>
              <a:rPr lang="en-GB" altLang="zh-CN" sz="1600">
                <a:solidFill>
                  <a:srgbClr val="339966"/>
                </a:solidFill>
                <a:latin typeface="Times New Roman"/>
                <a:ea typeface="宋体"/>
                <a:cs typeface="Times New Roman"/>
              </a:rPr>
              <a:t>Fig. 1. </a:t>
            </a:r>
            <a:r>
              <a:rPr lang="en-GB" sz="1600">
                <a:solidFill>
                  <a:srgbClr val="339966"/>
                </a:solidFill>
                <a:latin typeface="Times New Roman"/>
                <a:ea typeface="宋体"/>
                <a:cs typeface="Times New Roman"/>
              </a:rPr>
              <a:t>Experimental Results</a:t>
            </a:r>
            <a:endParaRPr lang="en-US" altLang="zh-CN" sz="1600" dirty="0">
              <a:solidFill>
                <a:srgbClr val="339966"/>
              </a:solidFill>
              <a:latin typeface="Times New Roman"/>
              <a:ea typeface="宋体"/>
              <a:cs typeface="Times New Roman"/>
            </a:endParaRPr>
          </a:p>
        </p:txBody>
      </p:sp>
      <p:sp>
        <p:nvSpPr>
          <p:cNvPr id="8" name="Text Box 7486">
            <a:extLst>
              <a:ext uri="{FF2B5EF4-FFF2-40B4-BE49-F238E27FC236}">
                <a16:creationId xmlns:a16="http://schemas.microsoft.com/office/drawing/2014/main" id="{E044AE87-6D59-A6AA-DABB-3C7364305B3A}"/>
              </a:ext>
            </a:extLst>
          </p:cNvPr>
          <p:cNvSpPr txBox="1">
            <a:spLocks noChangeArrowheads="1"/>
          </p:cNvSpPr>
          <p:nvPr/>
        </p:nvSpPr>
        <p:spPr bwMode="auto">
          <a:xfrm>
            <a:off x="8233807" y="6142110"/>
            <a:ext cx="7459662" cy="2828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nchor="t">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r>
              <a:rPr lang="en-US" sz="2000">
                <a:solidFill>
                  <a:srgbClr val="339966"/>
                </a:solidFill>
                <a:latin typeface="Times New Roman"/>
                <a:ea typeface="宋体"/>
                <a:cs typeface="Times New Roman"/>
              </a:rPr>
              <a:t>The system detected the problem at (60, 40) accurately.</a:t>
            </a:r>
            <a:endParaRPr lang="en-US"/>
          </a:p>
          <a:p>
            <a:r>
              <a:rPr lang="en-US" sz="2000" dirty="0">
                <a:solidFill>
                  <a:srgbClr val="339966"/>
                </a:solidFill>
                <a:latin typeface="Times New Roman"/>
                <a:ea typeface="宋体"/>
                <a:cs typeface="Times New Roman"/>
              </a:rPr>
              <a:t>This is positive because accurate location reduces unnecessary drone movement.        </a:t>
            </a:r>
            <a:endParaRPr lang="en-US" dirty="0"/>
          </a:p>
          <a:p>
            <a:endParaRPr lang="en-US"/>
          </a:p>
          <a:p>
            <a:pPr>
              <a:spcBef>
                <a:spcPts val="300"/>
              </a:spcBef>
              <a:spcAft>
                <a:spcPts val="600"/>
              </a:spcAft>
            </a:pPr>
            <a:endParaRPr lang="en-US" sz="2000" dirty="0">
              <a:solidFill>
                <a:srgbClr val="339966"/>
              </a:solidFill>
              <a:ea typeface="宋体"/>
              <a:cs typeface="Times New Roman"/>
            </a:endParaRPr>
          </a:p>
          <a:p>
            <a:pPr algn="dist"/>
            <a:endParaRPr lang="en-US" altLang="zh-CN" sz="1700" dirty="0">
              <a:solidFill>
                <a:srgbClr val="339966"/>
              </a:solidFill>
              <a:latin typeface="Times New Roman"/>
              <a:ea typeface="宋体"/>
              <a:cs typeface="Times New Roman"/>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3487</TotalTime>
  <Words>953</Words>
  <Application>Microsoft Office PowerPoint</Application>
  <PresentationFormat>Custom</PresentationFormat>
  <Paragraphs>90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Drone-to-Drone Collaboration for Agricultural Surveillance </vt:lpstr>
    </vt:vector>
  </TitlesOfParts>
  <Company>IMMPETUS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ASEMD13</dc:creator>
  <cp:lastModifiedBy>张 永超</cp:lastModifiedBy>
  <cp:revision>432</cp:revision>
  <cp:lastPrinted>2000-05-22T15:29:58Z</cp:lastPrinted>
  <dcterms:created xsi:type="dcterms:W3CDTF">2000-03-21T10:33:07Z</dcterms:created>
  <dcterms:modified xsi:type="dcterms:W3CDTF">2025-12-23T22:09:54Z</dcterms:modified>
</cp:coreProperties>
</file>